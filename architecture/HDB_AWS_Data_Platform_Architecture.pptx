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eyebrow">
            <a:extLst>
              <a:ext uri="{FF2B5EF4-FFF2-40B4-BE49-F238E27FC236}">
                <a16:creationId xmlns:a16="http://schemas.microsoft.com/office/drawing/2014/main" id="{1FC788AB-E3BE-4F5F-8988-2CBA9846C96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HDB SENIOR DATA ENGINEER | PART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3AC5FB-42B1-4E70-8CC4-A0D7660A2BA3}"/>
              </a:ext>
            </a:extLst>
          </p:cNvPr>
          <p:cNvSpPr>
            <a:spLocks noGrp="1"/>
          </p:cNvSpPr>
          <p:nvPr/>
        </p:nvSpPr>
        <p:spPr>
          <a:xfrm>
            <a:off x="400050" y="1028700"/>
            <a:ext cx="1428750" cy="4762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448B8ACA-EA3C-4545-BEAC-400EF5DA7CA1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0001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58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governed AWS data platform</a:t>
            </a:r>
          </a:p>
          <a:p>
            <a:pPr algn="l">
              <a:defRPr sz="58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HDB resale analytics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8FE98B28-696F-4BF9-9344-E5027DF3E5FA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Outbound-only batch ingestion • S3 lakehouse • private Tableau-to-Athena access</a:t>
            </a:r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3A89D569-5E1E-40AB-8F73-F1499C4FC800}"/>
              </a:ext>
            </a:extLst>
          </p:cNvPr>
          <p:cNvSpPr>
            <a:spLocks noGrp="1"/>
          </p:cNvSpPr>
          <p:nvPr/>
        </p:nvSpPr>
        <p:spPr>
          <a:xfrm>
            <a:off x="400050" y="5962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Architecture proposal | 1</a:t>
            </a:r>
            <a:r>
              <a:rPr lang="en-SG" sz="135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8</a:t>
            </a:r>
            <a:r>
              <a:rPr sz="135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 July 2026</a:t>
            </a:r>
          </a:p>
        </p:txBody>
      </p:sp>
    </p:spTree>
    <p:extLst>
      <p:ext uri="{BB962C8B-B14F-4D97-AF65-F5344CB8AC3E}">
        <p14:creationId xmlns:p14="http://schemas.microsoft.com/office/powerpoint/2010/main" val="171730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2-title">
            <a:extLst>
              <a:ext uri="{FF2B5EF4-FFF2-40B4-BE49-F238E27FC236}">
                <a16:creationId xmlns:a16="http://schemas.microsoft.com/office/drawing/2014/main" id="{F331F4E3-C974-41A8-995F-C8475E0D3EF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 constraints drive one narrow production baseline</a:t>
            </a:r>
          </a:p>
        </p:txBody>
      </p:sp>
      <p:sp>
        <p:nvSpPr>
          <p:cNvPr id="2" name="slide-2-number">
            <a:extLst>
              <a:ext uri="{FF2B5EF4-FFF2-40B4-BE49-F238E27FC236}">
                <a16:creationId xmlns:a16="http://schemas.microsoft.com/office/drawing/2014/main" id="{CA55B357-9F8D-46F8-B662-C676DE2C5BF8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8364C1-B353-401C-977C-01CDD4EFD6EA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The design deliberately solves the test before introducing optional Data &amp; AI capabilities.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4B231A-3B4B-4A5A-93DC-A66838C3471C}"/>
              </a:ext>
            </a:extLst>
          </p:cNvPr>
          <p:cNvSpPr>
            <a:spLocks noGrp="1"/>
          </p:cNvSpPr>
          <p:nvPr/>
        </p:nvSpPr>
        <p:spPr>
          <a:xfrm>
            <a:off x="400050" y="1828800"/>
            <a:ext cx="5562600" cy="165735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AFEEE8-5DDD-43D2-9472-85FDF05C5161}"/>
              </a:ext>
            </a:extLst>
          </p:cNvPr>
          <p:cNvSpPr>
            <a:spLocks noGrp="1"/>
          </p:cNvSpPr>
          <p:nvPr/>
        </p:nvSpPr>
        <p:spPr>
          <a:xfrm>
            <a:off x="647700" y="20574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7BCE76-E084-413A-BD5F-7F76B3DAC9AD}"/>
              </a:ext>
            </a:extLst>
          </p:cNvPr>
          <p:cNvSpPr>
            <a:spLocks noGrp="1"/>
          </p:cNvSpPr>
          <p:nvPr/>
        </p:nvSpPr>
        <p:spPr>
          <a:xfrm>
            <a:off x="1276350" y="20383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 batch files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E8965E-BB91-41BB-BB01-403324FEAC72}"/>
              </a:ext>
            </a:extLst>
          </p:cNvPr>
          <p:cNvSpPr>
            <a:spLocks noGrp="1"/>
          </p:cNvSpPr>
          <p:nvPr/>
        </p:nvSpPr>
        <p:spPr>
          <a:xfrm>
            <a:off x="647700" y="257175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&gt;100 MB downloads need streaming, retries, checksums, and no manual handling.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170815-8036-47A8-BDA4-9E4D7027FAB3}"/>
              </a:ext>
            </a:extLst>
          </p:cNvPr>
          <p:cNvSpPr>
            <a:spLocks noGrp="1"/>
          </p:cNvSpPr>
          <p:nvPr/>
        </p:nvSpPr>
        <p:spPr>
          <a:xfrm>
            <a:off x="6229350" y="1828800"/>
            <a:ext cx="5562600" cy="165735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B711E3-666F-413C-859A-BD7B1A4191C6}"/>
              </a:ext>
            </a:extLst>
          </p:cNvPr>
          <p:cNvSpPr>
            <a:spLocks noGrp="1"/>
          </p:cNvSpPr>
          <p:nvPr/>
        </p:nvSpPr>
        <p:spPr>
          <a:xfrm>
            <a:off x="6477000" y="20574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814F4A-94DB-43D8-8E13-6508DE3EBEF4}"/>
              </a:ext>
            </a:extLst>
          </p:cNvPr>
          <p:cNvSpPr>
            <a:spLocks noGrp="1"/>
          </p:cNvSpPr>
          <p:nvPr/>
        </p:nvSpPr>
        <p:spPr>
          <a:xfrm>
            <a:off x="7105650" y="20383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source, private platform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2DA60E-053E-47E0-B171-14074333B9EB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data.gov.sg stays outside; HDB workloads have no public IPs or inbound route.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9FE59C-43F7-444E-A775-B21F0B7BCD0D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5562600" cy="165735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E9D0B0-83C3-4B42-B1C7-5EC841B48FC1}"/>
              </a:ext>
            </a:extLst>
          </p:cNvPr>
          <p:cNvSpPr>
            <a:spLocks noGrp="1"/>
          </p:cNvSpPr>
          <p:nvPr/>
        </p:nvSpPr>
        <p:spPr>
          <a:xfrm>
            <a:off x="647700" y="413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4996AB-9AAA-4B69-A35F-4686E171B4D5}"/>
              </a:ext>
            </a:extLst>
          </p:cNvPr>
          <p:cNvSpPr>
            <a:spLocks noGrp="1"/>
          </p:cNvSpPr>
          <p:nvPr/>
        </p:nvSpPr>
        <p:spPr>
          <a:xfrm>
            <a:off x="1276350" y="41148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Tableau uses Athena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33B28A-0D3D-4B12-BA65-B5D5BD3F37AC}"/>
              </a:ext>
            </a:extLst>
          </p:cNvPr>
          <p:cNvSpPr>
            <a:spLocks noGrp="1"/>
          </p:cNvSpPr>
          <p:nvPr/>
        </p:nvSpPr>
        <p:spPr>
          <a:xfrm>
            <a:off x="647700" y="464820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The regional Athena hostname must resolve privately wherever the AWS service supports it.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EE284B-9489-4502-9DB8-9F57893DF68E}"/>
              </a:ext>
            </a:extLst>
          </p:cNvPr>
          <p:cNvSpPr>
            <a:spLocks noGrp="1"/>
          </p:cNvSpPr>
          <p:nvPr/>
        </p:nvSpPr>
        <p:spPr>
          <a:xfrm>
            <a:off x="6229350" y="3905250"/>
            <a:ext cx="5562600" cy="165735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9ECBD4-DE25-407B-8C43-7776F6F2ACFD}"/>
              </a:ext>
            </a:extLst>
          </p:cNvPr>
          <p:cNvSpPr>
            <a:spLocks noGrp="1"/>
          </p:cNvSpPr>
          <p:nvPr/>
        </p:nvSpPr>
        <p:spPr>
          <a:xfrm>
            <a:off x="6477000" y="41338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3DC9E6-2FA3-4A60-9134-3D93EF776C1C}"/>
              </a:ext>
            </a:extLst>
          </p:cNvPr>
          <p:cNvSpPr>
            <a:spLocks noGrp="1"/>
          </p:cNvSpPr>
          <p:nvPr/>
        </p:nvSpPr>
        <p:spPr>
          <a:xfrm>
            <a:off x="7105650" y="41148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SG" sz="2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Architecture </a:t>
            </a:r>
            <a:r>
              <a:rPr sz="2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expectations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9D06BA-4B97-4C49-B9BD-7517C7BF3428}"/>
              </a:ext>
            </a:extLst>
          </p:cNvPr>
          <p:cNvSpPr>
            <a:spLocks noGrp="1"/>
          </p:cNvSpPr>
          <p:nvPr/>
        </p:nvSpPr>
        <p:spPr>
          <a:xfrm>
            <a:off x="6477000" y="464820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Security, governance, scale, observability, and Terraform are design inputs.</a:t>
            </a:r>
          </a:p>
        </p:txBody>
      </p:sp>
      <p:sp>
        <p:nvSpPr>
          <p:cNvPr id="20" name="source-footer">
            <a:extLst>
              <a:ext uri="{FF2B5EF4-FFF2-40B4-BE49-F238E27FC236}">
                <a16:creationId xmlns:a16="http://schemas.microsoft.com/office/drawing/2014/main" id="{F7C22D7A-F0F6-4888-9A8D-CCCE7FB4D4D2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endParaRPr lang="en-US" sz="900" b="0" dirty="0">
              <a:solidFill>
                <a:srgbClr val="5E647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066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3-number">
            <a:extLst>
              <a:ext uri="{FF2B5EF4-FFF2-40B4-BE49-F238E27FC236}">
                <a16:creationId xmlns:a16="http://schemas.microsoft.com/office/drawing/2014/main" id="{1EEC5335-6816-43EB-B6ED-78F29889D86F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FEAC47-3809-4A6B-B031-B8C2E10F2A1C}"/>
              </a:ext>
            </a:extLst>
          </p:cNvPr>
          <p:cNvSpPr>
            <a:spLocks noGrp="1"/>
          </p:cNvSpPr>
          <p:nvPr/>
        </p:nvSpPr>
        <p:spPr>
          <a:xfrm>
            <a:off x="400050" y="657042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The core is intentionally small; named AI services remain governed extension points, not critical-path dependencies.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400050" y="1695450"/>
          <a:ext cx="11391900" cy="4076702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38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baseline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 rationale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386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Batch &gt;100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ECS on Fargate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Streams directly to S3; avoids Lambda duration and ephemeral-storage coupling.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38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Schedule + retries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EventBridge</a:t>
                      </a:r>
                      <a:r>
                        <a:rPr sz="15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+ Step Functions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Managed orchestration with timeouts, retries, catch paths, and run state.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38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Lakehouse + ETL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Amazon S3 + AWS Glue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Immutable raw zone; Glue/Spark transforms partitioned Parquet for scale.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38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Governed catalogue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Lake Formation + Glue Catalog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Fine-grained grants, governed locations, schema and partition metadata.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38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Tableau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Amazon Athena workgroup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Serverless SQL on S3 with encrypted results, scan limits, and isolation.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38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Private AWS traffic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Athena/Glue interface + S3 gateway endpoints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Private DNS keeps supported API/data paths off the public internet.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ource-footer">
            <a:extLst>
              <a:ext uri="{FF2B5EF4-FFF2-40B4-BE49-F238E27FC236}">
                <a16:creationId xmlns:a16="http://schemas.microsoft.com/office/drawing/2014/main" id="{4D4DA4E9-92D5-4447-863E-D0AD6384C1A8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endParaRPr sz="900" b="0" dirty="0">
              <a:solidFill>
                <a:srgbClr val="5E647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775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4-title">
            <a:extLst>
              <a:ext uri="{FF2B5EF4-FFF2-40B4-BE49-F238E27FC236}">
                <a16:creationId xmlns:a16="http://schemas.microsoft.com/office/drawing/2014/main" id="{35784871-28E6-46AD-8D24-4089FCCFDFD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governed S3 lakehouse supports Tableau analytics</a:t>
            </a:r>
          </a:p>
        </p:txBody>
      </p:sp>
      <p:sp>
        <p:nvSpPr>
          <p:cNvPr id="2" name="slide-4-number">
            <a:extLst>
              <a:ext uri="{FF2B5EF4-FFF2-40B4-BE49-F238E27FC236}">
                <a16:creationId xmlns:a16="http://schemas.microsoft.com/office/drawing/2014/main" id="{187D5BDD-33C7-47B3-AE64-C5A695293AD9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0EDD0-8F97-488E-98F5-4C6BDC65CC83}"/>
              </a:ext>
            </a:extLst>
          </p:cNvPr>
          <p:cNvSpPr>
            <a:spLocks noGrp="1"/>
          </p:cNvSpPr>
          <p:nvPr/>
        </p:nvSpPr>
        <p:spPr>
          <a:xfrm>
            <a:off x="7658100" y="1066800"/>
            <a:ext cx="323850" cy="285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05E519-7A24-4064-B1D2-29E24B17E9B6}"/>
              </a:ext>
            </a:extLst>
          </p:cNvPr>
          <p:cNvSpPr>
            <a:spLocks noGrp="1"/>
          </p:cNvSpPr>
          <p:nvPr/>
        </p:nvSpPr>
        <p:spPr>
          <a:xfrm>
            <a:off x="8058150" y="9906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data / query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6CF1D-A556-45CE-BB21-7116FC1EDE89}"/>
              </a:ext>
            </a:extLst>
          </p:cNvPr>
          <p:cNvSpPr>
            <a:spLocks noGrp="1"/>
          </p:cNvSpPr>
          <p:nvPr/>
        </p:nvSpPr>
        <p:spPr>
          <a:xfrm>
            <a:off x="9324975" y="1066800"/>
            <a:ext cx="323850" cy="28575"/>
          </a:xfrm>
          <a:prstGeom prst="rect">
            <a:avLst/>
          </a:prstGeom>
          <a:solidFill>
            <a:srgbClr val="B8BCC4"/>
          </a:solidFill>
          <a:ln w="19050">
            <a:solidFill>
              <a:srgbClr val="B8BCC4"/>
            </a:solidFill>
            <a:prstDash val="dash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F2650-0AE6-4DD9-9A5E-B42205386589}"/>
              </a:ext>
            </a:extLst>
          </p:cNvPr>
          <p:cNvSpPr>
            <a:spLocks noGrp="1"/>
          </p:cNvSpPr>
          <p:nvPr/>
        </p:nvSpPr>
        <p:spPr>
          <a:xfrm>
            <a:off x="9725025" y="9906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control / governance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5129C3-08B9-453B-9814-7B1E3EA74458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PUBLIC 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64C9B2-F4D3-4A34-8CA0-54EA2E3BC361}"/>
              </a:ext>
            </a:extLst>
          </p:cNvPr>
          <p:cNvSpPr>
            <a:spLocks noGrp="1"/>
          </p:cNvSpPr>
          <p:nvPr/>
        </p:nvSpPr>
        <p:spPr>
          <a:xfrm>
            <a:off x="6438900" y="1392984"/>
            <a:ext cx="1619250" cy="2453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lang="en-SG" sz="1130" b="1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HDB </a:t>
            </a:r>
            <a:r>
              <a:rPr sz="1130" b="1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AWS ACCOUNT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F0FEA-BE1F-4B90-B2DD-34BE98FC3D45}"/>
              </a:ext>
            </a:extLst>
          </p:cNvPr>
          <p:cNvSpPr>
            <a:spLocks noGrp="1"/>
          </p:cNvSpPr>
          <p:nvPr/>
        </p:nvSpPr>
        <p:spPr>
          <a:xfrm>
            <a:off x="2000250" y="1657350"/>
            <a:ext cx="9791700" cy="4095750"/>
          </a:xfrm>
          <a:prstGeom prst="rect">
            <a:avLst/>
          </a:prstGeom>
          <a:solidFill>
            <a:srgbClr val="FAFA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data-gov-source">
            <a:extLst>
              <a:ext uri="{FF2B5EF4-FFF2-40B4-BE49-F238E27FC236}">
                <a16:creationId xmlns:a16="http://schemas.microsoft.com/office/drawing/2014/main" id="{71E48DDD-4022-4720-AE76-A5A4FC99FAD7}"/>
              </a:ext>
            </a:extLst>
          </p:cNvPr>
          <p:cNvSpPr>
            <a:spLocks noGrp="1"/>
          </p:cNvSpPr>
          <p:nvPr/>
        </p:nvSpPr>
        <p:spPr>
          <a:xfrm>
            <a:off x="400050" y="3205797"/>
            <a:ext cx="1333500" cy="11430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1" name="fargate-ingestion">
            <a:extLst>
              <a:ext uri="{FF2B5EF4-FFF2-40B4-BE49-F238E27FC236}">
                <a16:creationId xmlns:a16="http://schemas.microsoft.com/office/drawing/2014/main" id="{B8AE6DEA-35D1-4C0D-B059-B8301B937877}"/>
              </a:ext>
            </a:extLst>
          </p:cNvPr>
          <p:cNvSpPr>
            <a:spLocks noGrp="1"/>
          </p:cNvSpPr>
          <p:nvPr/>
        </p:nvSpPr>
        <p:spPr>
          <a:xfrm>
            <a:off x="2305050" y="3123846"/>
            <a:ext cx="14287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2" name="s3-lakehouse">
            <a:extLst>
              <a:ext uri="{FF2B5EF4-FFF2-40B4-BE49-F238E27FC236}">
                <a16:creationId xmlns:a16="http://schemas.microsoft.com/office/drawing/2014/main" id="{0BC79609-B419-4ECA-AAFE-C2A8692D4506}"/>
              </a:ext>
            </a:extLst>
          </p:cNvPr>
          <p:cNvSpPr>
            <a:spLocks noGrp="1"/>
          </p:cNvSpPr>
          <p:nvPr/>
        </p:nvSpPr>
        <p:spPr>
          <a:xfrm>
            <a:off x="4171950" y="2813295"/>
            <a:ext cx="2381250" cy="1905000"/>
          </a:xfrm>
          <a:prstGeom prst="roundRect">
            <a:avLst>
              <a:gd name="adj" fmla="val 4000"/>
            </a:avLst>
          </a:prstGeom>
          <a:solidFill>
            <a:srgbClr val="D0EDFA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13" name="glue-transform">
            <a:extLst>
              <a:ext uri="{FF2B5EF4-FFF2-40B4-BE49-F238E27FC236}">
                <a16:creationId xmlns:a16="http://schemas.microsoft.com/office/drawing/2014/main" id="{F0AEE786-8F48-48A4-943F-9656D1AE8157}"/>
              </a:ext>
            </a:extLst>
          </p:cNvPr>
          <p:cNvSpPr>
            <a:spLocks noGrp="1"/>
          </p:cNvSpPr>
          <p:nvPr/>
        </p:nvSpPr>
        <p:spPr>
          <a:xfrm>
            <a:off x="6953250" y="3118095"/>
            <a:ext cx="14287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4" name="athena-query">
            <a:extLst>
              <a:ext uri="{FF2B5EF4-FFF2-40B4-BE49-F238E27FC236}">
                <a16:creationId xmlns:a16="http://schemas.microsoft.com/office/drawing/2014/main" id="{71E79A5D-770D-4D08-A733-6C03A191D67E}"/>
              </a:ext>
            </a:extLst>
          </p:cNvPr>
          <p:cNvSpPr>
            <a:spLocks noGrp="1"/>
          </p:cNvSpPr>
          <p:nvPr/>
        </p:nvSpPr>
        <p:spPr>
          <a:xfrm>
            <a:off x="8782050" y="3118095"/>
            <a:ext cx="14287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5" name="tableau-consumer">
            <a:extLst>
              <a:ext uri="{FF2B5EF4-FFF2-40B4-BE49-F238E27FC236}">
                <a16:creationId xmlns:a16="http://schemas.microsoft.com/office/drawing/2014/main" id="{A6856C26-04BF-44AC-B93F-EF434CE62E27}"/>
              </a:ext>
            </a:extLst>
          </p:cNvPr>
          <p:cNvSpPr>
            <a:spLocks noGrp="1"/>
          </p:cNvSpPr>
          <p:nvPr/>
        </p:nvSpPr>
        <p:spPr>
          <a:xfrm>
            <a:off x="10477500" y="3112344"/>
            <a:ext cx="1066800" cy="1295400"/>
          </a:xfrm>
          <a:prstGeom prst="roundRect">
            <a:avLst>
              <a:gd name="adj" fmla="val 7143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6" name="eventbridge-control">
            <a:extLst>
              <a:ext uri="{FF2B5EF4-FFF2-40B4-BE49-F238E27FC236}">
                <a16:creationId xmlns:a16="http://schemas.microsoft.com/office/drawing/2014/main" id="{6B164934-D1C2-4429-B272-BEA9267F0336}"/>
              </a:ext>
            </a:extLst>
          </p:cNvPr>
          <p:cNvSpPr>
            <a:spLocks noGrp="1"/>
          </p:cNvSpPr>
          <p:nvPr/>
        </p:nvSpPr>
        <p:spPr>
          <a:xfrm>
            <a:off x="2305050" y="17907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E8EDF5"/>
          </a:solidFill>
          <a:ln w="14288">
            <a:solidFill>
              <a:srgbClr val="E8EDF5"/>
            </a:solidFill>
            <a:prstDash val="solid"/>
          </a:ln>
        </p:spPr>
      </p:sp>
      <p:sp>
        <p:nvSpPr>
          <p:cNvPr id="17" name="step-functions-control">
            <a:extLst>
              <a:ext uri="{FF2B5EF4-FFF2-40B4-BE49-F238E27FC236}">
                <a16:creationId xmlns:a16="http://schemas.microsoft.com/office/drawing/2014/main" id="{734CC331-F905-4AA9-9DC5-2CFF201B1904}"/>
              </a:ext>
            </a:extLst>
          </p:cNvPr>
          <p:cNvSpPr>
            <a:spLocks noGrp="1"/>
          </p:cNvSpPr>
          <p:nvPr/>
        </p:nvSpPr>
        <p:spPr>
          <a:xfrm>
            <a:off x="4171950" y="17907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E8EDF5"/>
          </a:solidFill>
          <a:ln w="14288">
            <a:solidFill>
              <a:srgbClr val="E8EDF5"/>
            </a:solidFill>
            <a:prstDash val="solid"/>
          </a:ln>
        </p:spPr>
      </p:sp>
      <p:sp>
        <p:nvSpPr>
          <p:cNvPr id="18" name="lake-formation-governance">
            <a:extLst>
              <a:ext uri="{FF2B5EF4-FFF2-40B4-BE49-F238E27FC236}">
                <a16:creationId xmlns:a16="http://schemas.microsoft.com/office/drawing/2014/main" id="{B635EA50-EDBF-4150-8C8C-C118F351EDA9}"/>
              </a:ext>
            </a:extLst>
          </p:cNvPr>
          <p:cNvSpPr>
            <a:spLocks noGrp="1"/>
          </p:cNvSpPr>
          <p:nvPr/>
        </p:nvSpPr>
        <p:spPr>
          <a:xfrm>
            <a:off x="6843981" y="4711104"/>
            <a:ext cx="3257550" cy="876300"/>
          </a:xfrm>
          <a:prstGeom prst="roundRect">
            <a:avLst>
              <a:gd name="adj" fmla="val 8696"/>
            </a:avLst>
          </a:prstGeom>
          <a:solidFill>
            <a:srgbClr val="E8EDF5"/>
          </a:solidFill>
          <a:ln w="14288">
            <a:solidFill>
              <a:srgbClr val="B8BCC4"/>
            </a:solidFill>
            <a:prstDash val="solid"/>
          </a:ln>
        </p:spPr>
      </p:sp>
      <p:cxnSp>
        <p:nvCxnSpPr>
          <p:cNvPr id="72" name="Straight Arrow Connector 71"/>
          <p:cNvCxnSpPr>
            <a:stCxn id="10" idx="3"/>
            <a:endCxn id="11" idx="1"/>
          </p:cNvCxnSpPr>
          <p:nvPr/>
        </p:nvCxnSpPr>
        <p:spPr>
          <a:xfrm flipV="1">
            <a:off x="1733550" y="3771546"/>
            <a:ext cx="571500" cy="5751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3" name="Straight Arrow Connector 72"/>
          <p:cNvCxnSpPr>
            <a:stCxn id="11" idx="3"/>
            <a:endCxn id="12" idx="1"/>
          </p:cNvCxnSpPr>
          <p:nvPr/>
        </p:nvCxnSpPr>
        <p:spPr>
          <a:xfrm flipV="1">
            <a:off x="3733800" y="3765795"/>
            <a:ext cx="438150" cy="5751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4" name="Straight Arrow Connector 73"/>
          <p:cNvCxnSpPr>
            <a:stCxn id="12" idx="3"/>
            <a:endCxn id="13" idx="1"/>
          </p:cNvCxnSpPr>
          <p:nvPr/>
        </p:nvCxnSpPr>
        <p:spPr>
          <a:xfrm>
            <a:off x="6553200" y="3765795"/>
            <a:ext cx="400050" cy="0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arrow" w="sm" len="sm"/>
            <a:tailEnd type="arrow" w="med" len="med"/>
          </a:ln>
        </p:spPr>
      </p:cxnSp>
      <p:cxnSp>
        <p:nvCxnSpPr>
          <p:cNvPr id="75" name="Straight Arrow Connector 74"/>
          <p:cNvCxnSpPr>
            <a:stCxn id="13" idx="3"/>
            <a:endCxn id="14" idx="1"/>
          </p:cNvCxnSpPr>
          <p:nvPr/>
        </p:nvCxnSpPr>
        <p:spPr>
          <a:xfrm>
            <a:off x="8382000" y="3765795"/>
            <a:ext cx="400050" cy="0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6" name="Straight Arrow Connector 75"/>
          <p:cNvCxnSpPr>
            <a:stCxn id="14" idx="3"/>
            <a:endCxn id="15" idx="1"/>
          </p:cNvCxnSpPr>
          <p:nvPr/>
        </p:nvCxnSpPr>
        <p:spPr>
          <a:xfrm flipV="1">
            <a:off x="10210800" y="3760044"/>
            <a:ext cx="266700" cy="5751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7" name="Straight Arrow Connector 76"/>
          <p:cNvCxnSpPr>
            <a:stCxn id="16" idx="3"/>
            <a:endCxn id="17" idx="1"/>
          </p:cNvCxnSpPr>
          <p:nvPr/>
        </p:nvCxnSpPr>
        <p:spPr>
          <a:xfrm>
            <a:off x="3733800" y="2066925"/>
            <a:ext cx="438150" cy="0"/>
          </a:xfrm>
          <a:prstGeom prst="straightConnector1">
            <a:avLst/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78" name="Connector: Elbow 77"/>
          <p:cNvCxnSpPr>
            <a:stCxn id="17" idx="2"/>
            <a:endCxn id="11" idx="0"/>
          </p:cNvCxnSpPr>
          <p:nvPr/>
        </p:nvCxnSpPr>
        <p:spPr>
          <a:xfrm rot="5400000">
            <a:off x="3562527" y="1800048"/>
            <a:ext cx="780696" cy="1866900"/>
          </a:xfrm>
          <a:prstGeom prst="bentConnector3">
            <a:avLst>
              <a:gd name="adj1" fmla="val 33794"/>
            </a:avLst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79" name="Connector: Elbow 78"/>
          <p:cNvCxnSpPr>
            <a:stCxn id="17" idx="3"/>
            <a:endCxn id="13" idx="0"/>
          </p:cNvCxnSpPr>
          <p:nvPr/>
        </p:nvCxnSpPr>
        <p:spPr>
          <a:xfrm>
            <a:off x="5600700" y="2066925"/>
            <a:ext cx="2066925" cy="1051170"/>
          </a:xfrm>
          <a:prstGeom prst="bentConnector2">
            <a:avLst/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80" name="Connector: Elbow 79"/>
          <p:cNvCxnSpPr>
            <a:stCxn id="18" idx="1"/>
            <a:endCxn id="12" idx="2"/>
          </p:cNvCxnSpPr>
          <p:nvPr/>
        </p:nvCxnSpPr>
        <p:spPr>
          <a:xfrm rot="10800000">
            <a:off x="5362575" y="4718296"/>
            <a:ext cx="1481406" cy="430959"/>
          </a:xfrm>
          <a:prstGeom prst="bentConnector2">
            <a:avLst/>
          </a:prstGeom>
          <a:ln w="23813">
            <a:solidFill>
              <a:srgbClr val="B8BCC4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81" name="Connector: Elbow 80"/>
          <p:cNvCxnSpPr>
            <a:stCxn id="18" idx="3"/>
            <a:endCxn id="14" idx="2"/>
          </p:cNvCxnSpPr>
          <p:nvPr/>
        </p:nvCxnSpPr>
        <p:spPr>
          <a:xfrm flipH="1" flipV="1">
            <a:off x="9496425" y="4413495"/>
            <a:ext cx="605106" cy="735759"/>
          </a:xfrm>
          <a:prstGeom prst="bentConnector4">
            <a:avLst>
              <a:gd name="adj1" fmla="val -37779"/>
              <a:gd name="adj2" fmla="val 79775"/>
            </a:avLst>
          </a:prstGeom>
          <a:ln w="23813">
            <a:solidFill>
              <a:srgbClr val="B8BCC4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29" name="data.gov.sg-title">
            <a:extLst>
              <a:ext uri="{FF2B5EF4-FFF2-40B4-BE49-F238E27FC236}">
                <a16:creationId xmlns:a16="http://schemas.microsoft.com/office/drawing/2014/main" id="{767A227F-2041-4A91-B49A-6CFBBC9614C1}"/>
              </a:ext>
            </a:extLst>
          </p:cNvPr>
          <p:cNvSpPr>
            <a:spLocks noGrp="1"/>
          </p:cNvSpPr>
          <p:nvPr/>
        </p:nvSpPr>
        <p:spPr>
          <a:xfrm>
            <a:off x="533400" y="3360354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data.gov.sg</a:t>
            </a:r>
          </a:p>
        </p:txBody>
      </p:sp>
      <p:sp>
        <p:nvSpPr>
          <p:cNvPr id="30" name="data.gov.sg-subtitle">
            <a:extLst>
              <a:ext uri="{FF2B5EF4-FFF2-40B4-BE49-F238E27FC236}">
                <a16:creationId xmlns:a16="http://schemas.microsoft.com/office/drawing/2014/main" id="{D6A14BBC-7966-40B2-B14A-F3699468ABA1}"/>
              </a:ext>
            </a:extLst>
          </p:cNvPr>
          <p:cNvSpPr>
            <a:spLocks noGrp="1"/>
          </p:cNvSpPr>
          <p:nvPr/>
        </p:nvSpPr>
        <p:spPr>
          <a:xfrm>
            <a:off x="533400" y="3853857"/>
            <a:ext cx="1066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80"/>
          </a:bodyPr>
          <a:lstStyle/>
          <a:p>
            <a:pPr algn="l"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Public HTTPS</a:t>
            </a:r>
          </a:p>
          <a:p>
            <a:pPr algn="l"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batch source</a:t>
            </a:r>
          </a:p>
        </p:txBody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19350" y="3222690"/>
            <a:ext cx="400050" cy="400050"/>
          </a:xfrm>
          <a:prstGeom prst="rect">
            <a:avLst/>
          </a:prstGeom>
        </p:spPr>
      </p:pic>
      <p:sp>
        <p:nvSpPr>
          <p:cNvPr id="32" name="ECS / Fargate-title">
            <a:extLst>
              <a:ext uri="{FF2B5EF4-FFF2-40B4-BE49-F238E27FC236}">
                <a16:creationId xmlns:a16="http://schemas.microsoft.com/office/drawing/2014/main" id="{75B7F03F-2457-4775-B138-F47EA0F98A98}"/>
              </a:ext>
            </a:extLst>
          </p:cNvPr>
          <p:cNvSpPr>
            <a:spLocks noGrp="1"/>
          </p:cNvSpPr>
          <p:nvPr/>
        </p:nvSpPr>
        <p:spPr>
          <a:xfrm>
            <a:off x="2914650" y="3226644"/>
            <a:ext cx="70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ECS / Fargate</a:t>
            </a:r>
          </a:p>
        </p:txBody>
      </p:sp>
      <p:sp>
        <p:nvSpPr>
          <p:cNvPr id="33" name="ECS / Fargate-subtitle">
            <a:extLst>
              <a:ext uri="{FF2B5EF4-FFF2-40B4-BE49-F238E27FC236}">
                <a16:creationId xmlns:a16="http://schemas.microsoft.com/office/drawing/2014/main" id="{69A9ED4E-9EF4-4057-9B32-ADBCB177E97F}"/>
              </a:ext>
            </a:extLst>
          </p:cNvPr>
          <p:cNvSpPr>
            <a:spLocks noGrp="1"/>
          </p:cNvSpPr>
          <p:nvPr/>
        </p:nvSpPr>
        <p:spPr>
          <a:xfrm>
            <a:off x="2438400" y="3691392"/>
            <a:ext cx="1162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Outbound-only</a:t>
            </a:r>
          </a:p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streaming downloader</a:t>
            </a:r>
          </a:p>
        </p:txBody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6250" y="2917890"/>
            <a:ext cx="495300" cy="495300"/>
          </a:xfrm>
          <a:prstGeom prst="rect">
            <a:avLst/>
          </a:prstGeom>
        </p:spPr>
      </p:pic>
      <p:sp>
        <p:nvSpPr>
          <p:cNvPr id="35" name="Amazon S3 lakehouse-title">
            <a:extLst>
              <a:ext uri="{FF2B5EF4-FFF2-40B4-BE49-F238E27FC236}">
                <a16:creationId xmlns:a16="http://schemas.microsoft.com/office/drawing/2014/main" id="{DC4FA41C-3F66-45B1-8311-2C9ED347E795}"/>
              </a:ext>
            </a:extLst>
          </p:cNvPr>
          <p:cNvSpPr>
            <a:spLocks noGrp="1"/>
          </p:cNvSpPr>
          <p:nvPr/>
        </p:nvSpPr>
        <p:spPr>
          <a:xfrm>
            <a:off x="4876800" y="3054117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1455" lnSpcReduction="20000"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Amazon S3 </a:t>
            </a:r>
            <a:r>
              <a:rPr sz="157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lakehouse</a:t>
            </a:r>
            <a:endParaRPr sz="157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Amazon S3 lakehouse-subtitle">
            <a:extLst>
              <a:ext uri="{FF2B5EF4-FFF2-40B4-BE49-F238E27FC236}">
                <a16:creationId xmlns:a16="http://schemas.microsoft.com/office/drawing/2014/main" id="{370382EA-2267-4E18-A550-76713041AAE1}"/>
              </a:ext>
            </a:extLst>
          </p:cNvPr>
          <p:cNvSpPr>
            <a:spLocks noGrp="1"/>
          </p:cNvSpPr>
          <p:nvPr/>
        </p:nvSpPr>
        <p:spPr>
          <a:xfrm>
            <a:off x="4305300" y="3675219"/>
            <a:ext cx="2114550" cy="873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raw → staging → cleaned / failed</a:t>
            </a:r>
          </a:p>
          <a:p>
            <a:pPr algn="l">
              <a:defRPr sz="14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→ transformed → hashed</a:t>
            </a:r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067550" y="3234192"/>
            <a:ext cx="400050" cy="400050"/>
          </a:xfrm>
          <a:prstGeom prst="rect">
            <a:avLst/>
          </a:prstGeom>
        </p:spPr>
      </p:pic>
      <p:sp>
        <p:nvSpPr>
          <p:cNvPr id="38" name="AWS Glue-title">
            <a:extLst>
              <a:ext uri="{FF2B5EF4-FFF2-40B4-BE49-F238E27FC236}">
                <a16:creationId xmlns:a16="http://schemas.microsoft.com/office/drawing/2014/main" id="{1F65477D-CDF0-4F6E-AA06-32CF979A5378}"/>
              </a:ext>
            </a:extLst>
          </p:cNvPr>
          <p:cNvSpPr>
            <a:spLocks noGrp="1"/>
          </p:cNvSpPr>
          <p:nvPr/>
        </p:nvSpPr>
        <p:spPr>
          <a:xfrm>
            <a:off x="7562850" y="3249648"/>
            <a:ext cx="70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942" lnSpcReduction="20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AWS Glue</a:t>
            </a:r>
          </a:p>
        </p:txBody>
      </p:sp>
      <p:sp>
        <p:nvSpPr>
          <p:cNvPr id="39" name="AWS Glue-subtitle">
            <a:extLst>
              <a:ext uri="{FF2B5EF4-FFF2-40B4-BE49-F238E27FC236}">
                <a16:creationId xmlns:a16="http://schemas.microsoft.com/office/drawing/2014/main" id="{8A1EA7CD-71AC-49BD-B017-F6A2B9F2FF15}"/>
              </a:ext>
            </a:extLst>
          </p:cNvPr>
          <p:cNvSpPr>
            <a:spLocks noGrp="1"/>
          </p:cNvSpPr>
          <p:nvPr/>
        </p:nvSpPr>
        <p:spPr>
          <a:xfrm>
            <a:off x="7086600" y="3840918"/>
            <a:ext cx="1162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Spark ETL +</a:t>
            </a:r>
          </a:p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Data Catalog</a:t>
            </a:r>
          </a:p>
        </p:txBody>
      </p:sp>
      <p:pic>
        <p:nvPicPr>
          <p:cNvPr id="93" name="Picture 9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96350" y="3245694"/>
            <a:ext cx="400050" cy="400050"/>
          </a:xfrm>
          <a:prstGeom prst="rect">
            <a:avLst/>
          </a:prstGeom>
        </p:spPr>
      </p:pic>
      <p:sp>
        <p:nvSpPr>
          <p:cNvPr id="41" name="Athena-title">
            <a:extLst>
              <a:ext uri="{FF2B5EF4-FFF2-40B4-BE49-F238E27FC236}">
                <a16:creationId xmlns:a16="http://schemas.microsoft.com/office/drawing/2014/main" id="{BA14A466-2C21-4851-A674-5EBF0D447E71}"/>
              </a:ext>
            </a:extLst>
          </p:cNvPr>
          <p:cNvSpPr>
            <a:spLocks noGrp="1"/>
          </p:cNvSpPr>
          <p:nvPr/>
        </p:nvSpPr>
        <p:spPr>
          <a:xfrm>
            <a:off x="9391650" y="3272652"/>
            <a:ext cx="704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Athena</a:t>
            </a:r>
          </a:p>
        </p:txBody>
      </p:sp>
      <p:sp>
        <p:nvSpPr>
          <p:cNvPr id="42" name="Athena-subtitle">
            <a:extLst>
              <a:ext uri="{FF2B5EF4-FFF2-40B4-BE49-F238E27FC236}">
                <a16:creationId xmlns:a16="http://schemas.microsoft.com/office/drawing/2014/main" id="{595455F9-7E52-45FD-BEDA-82D47F5E965A}"/>
              </a:ext>
            </a:extLst>
          </p:cNvPr>
          <p:cNvSpPr>
            <a:spLocks noGrp="1"/>
          </p:cNvSpPr>
          <p:nvPr/>
        </p:nvSpPr>
        <p:spPr>
          <a:xfrm>
            <a:off x="8915400" y="3817914"/>
            <a:ext cx="1162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Governed SQL</a:t>
            </a:r>
          </a:p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workgroup</a:t>
            </a:r>
          </a:p>
        </p:txBody>
      </p:sp>
      <p:sp>
        <p:nvSpPr>
          <p:cNvPr id="43" name="Tableau-title">
            <a:extLst>
              <a:ext uri="{FF2B5EF4-FFF2-40B4-BE49-F238E27FC236}">
                <a16:creationId xmlns:a16="http://schemas.microsoft.com/office/drawing/2014/main" id="{638069A7-7A90-48A3-B1DD-1B13A6FAB225}"/>
              </a:ext>
            </a:extLst>
          </p:cNvPr>
          <p:cNvSpPr>
            <a:spLocks noGrp="1"/>
          </p:cNvSpPr>
          <p:nvPr/>
        </p:nvSpPr>
        <p:spPr>
          <a:xfrm>
            <a:off x="10610850" y="3261150"/>
            <a:ext cx="819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Tableau</a:t>
            </a:r>
          </a:p>
        </p:txBody>
      </p:sp>
      <p:sp>
        <p:nvSpPr>
          <p:cNvPr id="44" name="Tableau-subtitle">
            <a:extLst>
              <a:ext uri="{FF2B5EF4-FFF2-40B4-BE49-F238E27FC236}">
                <a16:creationId xmlns:a16="http://schemas.microsoft.com/office/drawing/2014/main" id="{7170CC3A-A035-47AD-A767-976D1A110205}"/>
              </a:ext>
            </a:extLst>
          </p:cNvPr>
          <p:cNvSpPr>
            <a:spLocks noGrp="1"/>
          </p:cNvSpPr>
          <p:nvPr/>
        </p:nvSpPr>
        <p:spPr>
          <a:xfrm>
            <a:off x="10610850" y="3639633"/>
            <a:ext cx="800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Private app</a:t>
            </a:r>
          </a:p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subnets</a:t>
            </a:r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419350" y="1924050"/>
            <a:ext cx="285750" cy="285750"/>
          </a:xfrm>
          <a:prstGeom prst="rect">
            <a:avLst/>
          </a:prstGeom>
        </p:spPr>
      </p:pic>
      <p:sp>
        <p:nvSpPr>
          <p:cNvPr id="46" name="Schedule-title">
            <a:extLst>
              <a:ext uri="{FF2B5EF4-FFF2-40B4-BE49-F238E27FC236}">
                <a16:creationId xmlns:a16="http://schemas.microsoft.com/office/drawing/2014/main" id="{C71A6418-FF36-4868-8705-753F730F26D4}"/>
              </a:ext>
            </a:extLst>
          </p:cNvPr>
          <p:cNvSpPr>
            <a:spLocks noGrp="1"/>
          </p:cNvSpPr>
          <p:nvPr/>
        </p:nvSpPr>
        <p:spPr>
          <a:xfrm>
            <a:off x="2800350" y="1905000"/>
            <a:ext cx="819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pic>
        <p:nvPicPr>
          <p:cNvPr id="100" name="Picture 99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286250" y="1924050"/>
            <a:ext cx="285750" cy="285750"/>
          </a:xfrm>
          <a:prstGeom prst="rect">
            <a:avLst/>
          </a:prstGeom>
        </p:spPr>
      </p:pic>
      <p:sp>
        <p:nvSpPr>
          <p:cNvPr id="48" name="Step Functions-title">
            <a:extLst>
              <a:ext uri="{FF2B5EF4-FFF2-40B4-BE49-F238E27FC236}">
                <a16:creationId xmlns:a16="http://schemas.microsoft.com/office/drawing/2014/main" id="{579CCFA1-8C9E-457C-BF32-7B84A61EAAF7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819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Functions</a:t>
            </a:r>
          </a:p>
        </p:txBody>
      </p:sp>
      <p:pic>
        <p:nvPicPr>
          <p:cNvPr id="102" name="Picture 101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7021542" y="4763940"/>
            <a:ext cx="400050" cy="400050"/>
          </a:xfrm>
          <a:prstGeom prst="rect">
            <a:avLst/>
          </a:prstGeom>
        </p:spPr>
      </p:pic>
      <p:sp>
        <p:nvSpPr>
          <p:cNvPr id="50" name="Lake Formation + Glue Catalog-title">
            <a:extLst>
              <a:ext uri="{FF2B5EF4-FFF2-40B4-BE49-F238E27FC236}">
                <a16:creationId xmlns:a16="http://schemas.microsoft.com/office/drawing/2014/main" id="{D98CD507-4E57-47B6-AFA2-759E2C23E9AA}"/>
              </a:ext>
            </a:extLst>
          </p:cNvPr>
          <p:cNvSpPr>
            <a:spLocks noGrp="1"/>
          </p:cNvSpPr>
          <p:nvPr/>
        </p:nvSpPr>
        <p:spPr>
          <a:xfrm>
            <a:off x="7562850" y="4779396"/>
            <a:ext cx="2533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392"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Lake Formation + Glue Catalog</a:t>
            </a:r>
          </a:p>
        </p:txBody>
      </p:sp>
      <p:sp>
        <p:nvSpPr>
          <p:cNvPr id="51" name="Lake Formation + Glue Catalog-subtitle">
            <a:extLst>
              <a:ext uri="{FF2B5EF4-FFF2-40B4-BE49-F238E27FC236}">
                <a16:creationId xmlns:a16="http://schemas.microsoft.com/office/drawing/2014/main" id="{A2222AA2-BE84-42B8-A235-442BD311104C}"/>
              </a:ext>
            </a:extLst>
          </p:cNvPr>
          <p:cNvSpPr>
            <a:spLocks noGrp="1"/>
          </p:cNvSpPr>
          <p:nvPr/>
        </p:nvSpPr>
        <p:spPr>
          <a:xfrm>
            <a:off x="7011837" y="5200653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625" lnSpcReduction="10000"/>
          </a:bodyPr>
          <a:lstStyle/>
          <a:p>
            <a:pPr algn="l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Fine-grained grants, governed locations, schema and partition metadata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FB6731-BEF0-4B55-A332-31A788D37AE4}"/>
              </a:ext>
            </a:extLst>
          </p:cNvPr>
          <p:cNvSpPr>
            <a:spLocks noGrp="1"/>
          </p:cNvSpPr>
          <p:nvPr/>
        </p:nvSpPr>
        <p:spPr>
          <a:xfrm>
            <a:off x="1160433" y="4433622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FF990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FF9900"/>
                </a:solidFill>
                <a:latin typeface="Arial"/>
                <a:ea typeface="Arial"/>
                <a:cs typeface="Arial"/>
              </a:rPr>
              <a:t>TLS 443</a:t>
            </a:r>
          </a:p>
          <a:p>
            <a:pPr algn="ctr">
              <a:defRPr sz="1125" b="0">
                <a:solidFill>
                  <a:srgbClr val="FF990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FF9900"/>
                </a:solidFill>
                <a:latin typeface="Arial"/>
                <a:ea typeface="Arial"/>
                <a:cs typeface="Arial"/>
              </a:rPr>
              <a:t>outbound-initiated</a:t>
            </a:r>
          </a:p>
        </p:txBody>
      </p:sp>
      <p:sp>
        <p:nvSpPr>
          <p:cNvPr id="53" name="source-footer">
            <a:extLst>
              <a:ext uri="{FF2B5EF4-FFF2-40B4-BE49-F238E27FC236}">
                <a16:creationId xmlns:a16="http://schemas.microsoft.com/office/drawing/2014/main" id="{433E991D-4278-4289-8221-B7041A53A8DA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endParaRPr lang="en-US" sz="900" b="0" dirty="0">
              <a:solidFill>
                <a:srgbClr val="5E647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88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5-title">
            <a:extLst>
              <a:ext uri="{FF2B5EF4-FFF2-40B4-BE49-F238E27FC236}">
                <a16:creationId xmlns:a16="http://schemas.microsoft.com/office/drawing/2014/main" id="{3ABBCC94-54A5-439A-B42B-AE6488AF4DC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 files use an outbound-only ingestion path</a:t>
            </a:r>
          </a:p>
        </p:txBody>
      </p:sp>
      <p:sp>
        <p:nvSpPr>
          <p:cNvPr id="2" name="slide-5-number">
            <a:extLst>
              <a:ext uri="{FF2B5EF4-FFF2-40B4-BE49-F238E27FC236}">
                <a16:creationId xmlns:a16="http://schemas.microsoft.com/office/drawing/2014/main" id="{D3605EA3-AF40-4B45-B51B-F5F056CFF789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16701C-282A-4ABC-B930-7ED8B9298589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The downloader has no public IP and initiates the only public connection; S3 traffic remains private.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58C52E-1CA2-42B7-8F5B-42B9A9005FB0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PUBLIC INTERNET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71CFCE-964F-4C7D-9DEF-F6B698941F06}"/>
              </a:ext>
            </a:extLst>
          </p:cNvPr>
          <p:cNvSpPr>
            <a:spLocks noGrp="1"/>
          </p:cNvSpPr>
          <p:nvPr/>
        </p:nvSpPr>
        <p:spPr>
          <a:xfrm>
            <a:off x="5270730" y="16002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HDB AWS ACCOUNT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669828-FCCA-4947-9EC8-3B923B5BAD26}"/>
              </a:ext>
            </a:extLst>
          </p:cNvPr>
          <p:cNvSpPr>
            <a:spLocks noGrp="1"/>
          </p:cNvSpPr>
          <p:nvPr/>
        </p:nvSpPr>
        <p:spPr>
          <a:xfrm>
            <a:off x="2495550" y="1847850"/>
            <a:ext cx="9296400" cy="3943350"/>
          </a:xfrm>
          <a:prstGeom prst="rect">
            <a:avLst/>
          </a:prstGeom>
          <a:solidFill>
            <a:srgbClr val="FAFA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1BE6E6-228A-487C-87C1-AFE1A4641457}"/>
              </a:ext>
            </a:extLst>
          </p:cNvPr>
          <p:cNvSpPr>
            <a:spLocks noGrp="1"/>
          </p:cNvSpPr>
          <p:nvPr/>
        </p:nvSpPr>
        <p:spPr>
          <a:xfrm>
            <a:off x="5029200" y="2247900"/>
            <a:ext cx="2990850" cy="2190750"/>
          </a:xfrm>
          <a:prstGeom prst="rect">
            <a:avLst/>
          </a:prstGeom>
          <a:solidFill>
            <a:srgbClr val="E8ED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8B039-E76C-4150-90D5-167B6F34B168}"/>
              </a:ext>
            </a:extLst>
          </p:cNvPr>
          <p:cNvSpPr>
            <a:spLocks noGrp="1"/>
          </p:cNvSpPr>
          <p:nvPr/>
        </p:nvSpPr>
        <p:spPr>
          <a:xfrm>
            <a:off x="5219700" y="2362200"/>
            <a:ext cx="2609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PRIVATE INGESTION SUBNETS</a:t>
            </a:r>
          </a:p>
        </p:txBody>
      </p:sp>
      <p:sp>
        <p:nvSpPr>
          <p:cNvPr id="9" name="ingest-source">
            <a:extLst>
              <a:ext uri="{FF2B5EF4-FFF2-40B4-BE49-F238E27FC236}">
                <a16:creationId xmlns:a16="http://schemas.microsoft.com/office/drawing/2014/main" id="{F49D5B02-97EB-45E9-825E-626B312F72CA}"/>
              </a:ext>
            </a:extLst>
          </p:cNvPr>
          <p:cNvSpPr>
            <a:spLocks noGrp="1"/>
          </p:cNvSpPr>
          <p:nvPr/>
        </p:nvSpPr>
        <p:spPr>
          <a:xfrm>
            <a:off x="400050" y="2796756"/>
            <a:ext cx="1619250" cy="1200150"/>
          </a:xfrm>
          <a:prstGeom prst="roundRect">
            <a:avLst>
              <a:gd name="adj" fmla="val 6349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0" name="egress-controls">
            <a:extLst>
              <a:ext uri="{FF2B5EF4-FFF2-40B4-BE49-F238E27FC236}">
                <a16:creationId xmlns:a16="http://schemas.microsoft.com/office/drawing/2014/main" id="{83CEE0F7-418D-4077-B3BA-D5B87F0695E7}"/>
              </a:ext>
            </a:extLst>
          </p:cNvPr>
          <p:cNvSpPr>
            <a:spLocks noGrp="1"/>
          </p:cNvSpPr>
          <p:nvPr/>
        </p:nvSpPr>
        <p:spPr>
          <a:xfrm>
            <a:off x="2857500" y="2880504"/>
            <a:ext cx="16954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1" name="private-fargate">
            <a:extLst>
              <a:ext uri="{FF2B5EF4-FFF2-40B4-BE49-F238E27FC236}">
                <a16:creationId xmlns:a16="http://schemas.microsoft.com/office/drawing/2014/main" id="{43686B25-3441-4C3E-9491-DD3AA7BCC63A}"/>
              </a:ext>
            </a:extLst>
          </p:cNvPr>
          <p:cNvSpPr>
            <a:spLocks noGrp="1"/>
          </p:cNvSpPr>
          <p:nvPr/>
        </p:nvSpPr>
        <p:spPr>
          <a:xfrm>
            <a:off x="5391150" y="2781300"/>
            <a:ext cx="22669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2" name="s3-gateway-endpoint">
            <a:extLst>
              <a:ext uri="{FF2B5EF4-FFF2-40B4-BE49-F238E27FC236}">
                <a16:creationId xmlns:a16="http://schemas.microsoft.com/office/drawing/2014/main" id="{EA793DDF-F975-4F10-825F-4B6C9A80380A}"/>
              </a:ext>
            </a:extLst>
          </p:cNvPr>
          <p:cNvSpPr>
            <a:spLocks noGrp="1"/>
          </p:cNvSpPr>
          <p:nvPr/>
        </p:nvSpPr>
        <p:spPr>
          <a:xfrm>
            <a:off x="8267700" y="2825151"/>
            <a:ext cx="1371600" cy="1123950"/>
          </a:xfrm>
          <a:prstGeom prst="roundRect">
            <a:avLst>
              <a:gd name="adj" fmla="val 6780"/>
            </a:avLst>
          </a:prstGeom>
          <a:solidFill>
            <a:srgbClr val="E8EDF5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3" name="s3-raw">
            <a:extLst>
              <a:ext uri="{FF2B5EF4-FFF2-40B4-BE49-F238E27FC236}">
                <a16:creationId xmlns:a16="http://schemas.microsoft.com/office/drawing/2014/main" id="{C344CD21-094C-47F2-B0ED-0171AD03B573}"/>
              </a:ext>
            </a:extLst>
          </p:cNvPr>
          <p:cNvSpPr>
            <a:spLocks noGrp="1"/>
          </p:cNvSpPr>
          <p:nvPr/>
        </p:nvSpPr>
        <p:spPr>
          <a:xfrm>
            <a:off x="10115550" y="2743200"/>
            <a:ext cx="13716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4" name="ingest-eventbridge">
            <a:extLst>
              <a:ext uri="{FF2B5EF4-FFF2-40B4-BE49-F238E27FC236}">
                <a16:creationId xmlns:a16="http://schemas.microsoft.com/office/drawing/2014/main" id="{97B01375-BCD2-4823-910A-0DECE74B056C}"/>
              </a:ext>
            </a:extLst>
          </p:cNvPr>
          <p:cNvSpPr>
            <a:spLocks noGrp="1"/>
          </p:cNvSpPr>
          <p:nvPr/>
        </p:nvSpPr>
        <p:spPr>
          <a:xfrm>
            <a:off x="5219700" y="4704633"/>
            <a:ext cx="1485900" cy="704850"/>
          </a:xfrm>
          <a:prstGeom prst="roundRect">
            <a:avLst>
              <a:gd name="adj" fmla="val 10811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5" name="ingest-step">
            <a:extLst>
              <a:ext uri="{FF2B5EF4-FFF2-40B4-BE49-F238E27FC236}">
                <a16:creationId xmlns:a16="http://schemas.microsoft.com/office/drawing/2014/main" id="{A48DDD9F-E7F9-4734-BF44-8223D6A1FFF3}"/>
              </a:ext>
            </a:extLst>
          </p:cNvPr>
          <p:cNvSpPr>
            <a:spLocks noGrp="1"/>
          </p:cNvSpPr>
          <p:nvPr/>
        </p:nvSpPr>
        <p:spPr>
          <a:xfrm>
            <a:off x="7010400" y="4704633"/>
            <a:ext cx="1638300" cy="704850"/>
          </a:xfrm>
          <a:prstGeom prst="roundRect">
            <a:avLst>
              <a:gd name="adj" fmla="val 10811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6" name="ingest-glue">
            <a:extLst>
              <a:ext uri="{FF2B5EF4-FFF2-40B4-BE49-F238E27FC236}">
                <a16:creationId xmlns:a16="http://schemas.microsoft.com/office/drawing/2014/main" id="{789C869A-08C6-47A8-8936-38F2F40E82EB}"/>
              </a:ext>
            </a:extLst>
          </p:cNvPr>
          <p:cNvSpPr>
            <a:spLocks noGrp="1"/>
          </p:cNvSpPr>
          <p:nvPr/>
        </p:nvSpPr>
        <p:spPr>
          <a:xfrm>
            <a:off x="9048750" y="4693131"/>
            <a:ext cx="1562100" cy="704850"/>
          </a:xfrm>
          <a:prstGeom prst="roundRect">
            <a:avLst>
              <a:gd name="adj" fmla="val 10811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cxnSp>
        <p:nvCxnSpPr>
          <p:cNvPr id="63" name="Straight Arrow Connector 62"/>
          <p:cNvCxnSpPr>
            <a:stCxn id="11" idx="1"/>
            <a:endCxn id="10" idx="3"/>
          </p:cNvCxnSpPr>
          <p:nvPr/>
        </p:nvCxnSpPr>
        <p:spPr>
          <a:xfrm flipH="1">
            <a:off x="4552950" y="3390900"/>
            <a:ext cx="838200" cy="3954"/>
          </a:xfrm>
          <a:prstGeom prst="straightConnector1">
            <a:avLst/>
          </a:prstGeom>
          <a:ln w="23813">
            <a:solidFill>
              <a:srgbClr val="FF990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4" name="Straight Arrow Connector 63"/>
          <p:cNvCxnSpPr>
            <a:stCxn id="10" idx="1"/>
            <a:endCxn id="9" idx="3"/>
          </p:cNvCxnSpPr>
          <p:nvPr/>
        </p:nvCxnSpPr>
        <p:spPr>
          <a:xfrm flipH="1">
            <a:off x="2019300" y="3394854"/>
            <a:ext cx="838200" cy="1977"/>
          </a:xfrm>
          <a:prstGeom prst="straightConnector1">
            <a:avLst/>
          </a:prstGeom>
          <a:ln w="23813">
            <a:solidFill>
              <a:srgbClr val="FF990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5" name="Straight Arrow Connector 64"/>
          <p:cNvCxnSpPr>
            <a:stCxn id="11" idx="3"/>
            <a:endCxn id="12" idx="1"/>
          </p:cNvCxnSpPr>
          <p:nvPr/>
        </p:nvCxnSpPr>
        <p:spPr>
          <a:xfrm flipV="1">
            <a:off x="7658100" y="3387126"/>
            <a:ext cx="609600" cy="3774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6" name="Straight Arrow Connector 65"/>
          <p:cNvCxnSpPr>
            <a:stCxn id="12" idx="3"/>
            <a:endCxn id="13" idx="1"/>
          </p:cNvCxnSpPr>
          <p:nvPr/>
        </p:nvCxnSpPr>
        <p:spPr>
          <a:xfrm>
            <a:off x="9639300" y="3387126"/>
            <a:ext cx="476250" cy="3774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7" name="Straight Arrow Connector 66"/>
          <p:cNvCxnSpPr>
            <a:stCxn id="14" idx="3"/>
            <a:endCxn id="15" idx="1"/>
          </p:cNvCxnSpPr>
          <p:nvPr/>
        </p:nvCxnSpPr>
        <p:spPr>
          <a:xfrm>
            <a:off x="6705600" y="5057058"/>
            <a:ext cx="304800" cy="0"/>
          </a:xfrm>
          <a:prstGeom prst="straightConnector1">
            <a:avLst/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8" name="Connector: Elbow 67"/>
          <p:cNvCxnSpPr>
            <a:stCxn id="15" idx="0"/>
            <a:endCxn id="11" idx="2"/>
          </p:cNvCxnSpPr>
          <p:nvPr/>
        </p:nvCxnSpPr>
        <p:spPr>
          <a:xfrm rot="16200000" flipV="1">
            <a:off x="6825022" y="3700104"/>
            <a:ext cx="704133" cy="1304925"/>
          </a:xfrm>
          <a:prstGeom prst="bentConnector3">
            <a:avLst>
              <a:gd name="adj1" fmla="val 50000"/>
            </a:avLst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9" name="Straight Arrow Connector 68"/>
          <p:cNvCxnSpPr>
            <a:stCxn id="15" idx="3"/>
            <a:endCxn id="16" idx="1"/>
          </p:cNvCxnSpPr>
          <p:nvPr/>
        </p:nvCxnSpPr>
        <p:spPr>
          <a:xfrm flipV="1">
            <a:off x="8648700" y="5045556"/>
            <a:ext cx="400050" cy="11502"/>
          </a:xfrm>
          <a:prstGeom prst="straightConnector1">
            <a:avLst/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70" name="Connector: Elbow 69"/>
          <p:cNvCxnSpPr>
            <a:stCxn id="13" idx="2"/>
            <a:endCxn id="16" idx="0"/>
          </p:cNvCxnSpPr>
          <p:nvPr/>
        </p:nvCxnSpPr>
        <p:spPr>
          <a:xfrm rot="5400000">
            <a:off x="9988310" y="3880090"/>
            <a:ext cx="654531" cy="971550"/>
          </a:xfrm>
          <a:prstGeom prst="bentConnector3">
            <a:avLst>
              <a:gd name="adj1" fmla="val 50000"/>
            </a:avLst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5" name="data.gov.sg-title">
            <a:extLst>
              <a:ext uri="{FF2B5EF4-FFF2-40B4-BE49-F238E27FC236}">
                <a16:creationId xmlns:a16="http://schemas.microsoft.com/office/drawing/2014/main" id="{12D0EC26-3034-4890-8ECE-65B207C6D3C6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data.gov.sg</a:t>
            </a:r>
          </a:p>
        </p:txBody>
      </p:sp>
      <p:sp>
        <p:nvSpPr>
          <p:cNvPr id="26" name="data.gov.sg-subtitle">
            <a:extLst>
              <a:ext uri="{FF2B5EF4-FFF2-40B4-BE49-F238E27FC236}">
                <a16:creationId xmlns:a16="http://schemas.microsoft.com/office/drawing/2014/main" id="{4BFA9CD3-BE5F-40A1-85FE-3016931C13AA}"/>
              </a:ext>
            </a:extLst>
          </p:cNvPr>
          <p:cNvSpPr>
            <a:spLocks noGrp="1"/>
          </p:cNvSpPr>
          <p:nvPr/>
        </p:nvSpPr>
        <p:spPr>
          <a:xfrm>
            <a:off x="533400" y="335280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130" lnSpcReduction="10000"/>
          </a:bodyPr>
          <a:lstStyle/>
          <a:p>
            <a:pPr algn="l"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HTTPS file endpoint</a:t>
            </a:r>
          </a:p>
          <a:p>
            <a:pPr algn="l"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&gt;100 MB supported</a:t>
            </a:r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71800" y="2990850"/>
            <a:ext cx="361950" cy="361950"/>
          </a:xfrm>
          <a:prstGeom prst="rect">
            <a:avLst/>
          </a:prstGeom>
        </p:spPr>
      </p:pic>
      <p:sp>
        <p:nvSpPr>
          <p:cNvPr id="28" name="Controlled egress-title">
            <a:extLst>
              <a:ext uri="{FF2B5EF4-FFF2-40B4-BE49-F238E27FC236}">
                <a16:creationId xmlns:a16="http://schemas.microsoft.com/office/drawing/2014/main" id="{A7FD63EB-B42E-4B0C-91E8-C3131656CD1D}"/>
              </a:ext>
            </a:extLst>
          </p:cNvPr>
          <p:cNvSpPr>
            <a:spLocks noGrp="1"/>
          </p:cNvSpPr>
          <p:nvPr/>
        </p:nvSpPr>
        <p:spPr>
          <a:xfrm>
            <a:off x="3429000" y="2971800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735" lnSpcReduction="10000"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Controlled egress</a:t>
            </a:r>
          </a:p>
        </p:txBody>
      </p:sp>
      <p:sp>
        <p:nvSpPr>
          <p:cNvPr id="29" name="Controlled egress-subtitle">
            <a:extLst>
              <a:ext uri="{FF2B5EF4-FFF2-40B4-BE49-F238E27FC236}">
                <a16:creationId xmlns:a16="http://schemas.microsoft.com/office/drawing/2014/main" id="{F59D433C-5890-4181-940C-3DE552F73E8A}"/>
              </a:ext>
            </a:extLst>
          </p:cNvPr>
          <p:cNvSpPr>
            <a:spLocks noGrp="1"/>
          </p:cNvSpPr>
          <p:nvPr/>
        </p:nvSpPr>
        <p:spPr>
          <a:xfrm>
            <a:off x="2990850" y="337185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203"/>
          </a:bodyPr>
          <a:lstStyle/>
          <a:p>
            <a:pPr algn="l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Network Firewall / proxy</a:t>
            </a:r>
          </a:p>
          <a:p>
            <a:pPr algn="l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+ NAT Gateway</a:t>
            </a:r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05450" y="2914650"/>
            <a:ext cx="438150" cy="438150"/>
          </a:xfrm>
          <a:prstGeom prst="rect">
            <a:avLst/>
          </a:prstGeom>
        </p:spPr>
      </p:pic>
      <p:sp>
        <p:nvSpPr>
          <p:cNvPr id="31" name="Fargate downloader-title">
            <a:extLst>
              <a:ext uri="{FF2B5EF4-FFF2-40B4-BE49-F238E27FC236}">
                <a16:creationId xmlns:a16="http://schemas.microsoft.com/office/drawing/2014/main" id="{1216C795-AEBA-4DA2-8039-16870CE72150}"/>
              </a:ext>
            </a:extLst>
          </p:cNvPr>
          <p:cNvSpPr>
            <a:spLocks noGrp="1"/>
          </p:cNvSpPr>
          <p:nvPr/>
        </p:nvSpPr>
        <p:spPr>
          <a:xfrm>
            <a:off x="6038850" y="2895600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637" lnSpcReduction="20000"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Fargate downloader</a:t>
            </a:r>
          </a:p>
        </p:txBody>
      </p:sp>
      <p:sp>
        <p:nvSpPr>
          <p:cNvPr id="32" name="Fargate downloader-subtitle">
            <a:extLst>
              <a:ext uri="{FF2B5EF4-FFF2-40B4-BE49-F238E27FC236}">
                <a16:creationId xmlns:a16="http://schemas.microsoft.com/office/drawing/2014/main" id="{856CF3C6-B20D-4F88-8A49-AD8C074CD492}"/>
              </a:ext>
            </a:extLst>
          </p:cNvPr>
          <p:cNvSpPr>
            <a:spLocks noGrp="1"/>
          </p:cNvSpPr>
          <p:nvPr/>
        </p:nvSpPr>
        <p:spPr>
          <a:xfrm>
            <a:off x="5524500" y="337185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909" lnSpcReduction="20000"/>
          </a:bodyPr>
          <a:lstStyle/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Stream response → multipart upload</a:t>
            </a:r>
          </a:p>
          <a:p>
            <a:pPr algn="l">
              <a:defRPr sz="127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validate size + checksum + manifest</a:t>
            </a:r>
          </a:p>
        </p:txBody>
      </p:sp>
      <p:sp>
        <p:nvSpPr>
          <p:cNvPr id="33" name="S3 Gateway&#10;VPC endpoint-title">
            <a:extLst>
              <a:ext uri="{FF2B5EF4-FFF2-40B4-BE49-F238E27FC236}">
                <a16:creationId xmlns:a16="http://schemas.microsoft.com/office/drawing/2014/main" id="{657E2C3D-3B41-42D7-B404-36787520CFC2}"/>
              </a:ext>
            </a:extLst>
          </p:cNvPr>
          <p:cNvSpPr>
            <a:spLocks noGrp="1"/>
          </p:cNvSpPr>
          <p:nvPr/>
        </p:nvSpPr>
        <p:spPr>
          <a:xfrm>
            <a:off x="8401050" y="2933700"/>
            <a:ext cx="1123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S3 Gateway</a:t>
            </a:r>
          </a:p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VPC endpoint</a:t>
            </a:r>
          </a:p>
        </p:txBody>
      </p:sp>
      <p:sp>
        <p:nvSpPr>
          <p:cNvPr id="34" name="S3 Gateway&#10;VPC endpoint-subtitle">
            <a:extLst>
              <a:ext uri="{FF2B5EF4-FFF2-40B4-BE49-F238E27FC236}">
                <a16:creationId xmlns:a16="http://schemas.microsoft.com/office/drawing/2014/main" id="{5D7A5560-90D5-4D58-961C-073B227E34FE}"/>
              </a:ext>
            </a:extLst>
          </p:cNvPr>
          <p:cNvSpPr>
            <a:spLocks noGrp="1"/>
          </p:cNvSpPr>
          <p:nvPr/>
        </p:nvSpPr>
        <p:spPr>
          <a:xfrm>
            <a:off x="8401050" y="3448050"/>
            <a:ext cx="110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Private route</a:t>
            </a: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29850" y="2876550"/>
            <a:ext cx="400050" cy="400050"/>
          </a:xfrm>
          <a:prstGeom prst="rect">
            <a:avLst/>
          </a:prstGeom>
        </p:spPr>
      </p:pic>
      <p:sp>
        <p:nvSpPr>
          <p:cNvPr id="36" name="S3 raw-title">
            <a:extLst>
              <a:ext uri="{FF2B5EF4-FFF2-40B4-BE49-F238E27FC236}">
                <a16:creationId xmlns:a16="http://schemas.microsoft.com/office/drawing/2014/main" id="{1297A543-219D-4CA2-8F13-F3CA926404D8}"/>
              </a:ext>
            </a:extLst>
          </p:cNvPr>
          <p:cNvSpPr>
            <a:spLocks noGrp="1"/>
          </p:cNvSpPr>
          <p:nvPr/>
        </p:nvSpPr>
        <p:spPr>
          <a:xfrm>
            <a:off x="10725150" y="2857500"/>
            <a:ext cx="647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S3 raw</a:t>
            </a:r>
          </a:p>
        </p:txBody>
      </p:sp>
      <p:sp>
        <p:nvSpPr>
          <p:cNvPr id="37" name="S3 raw-subtitle">
            <a:extLst>
              <a:ext uri="{FF2B5EF4-FFF2-40B4-BE49-F238E27FC236}">
                <a16:creationId xmlns:a16="http://schemas.microsoft.com/office/drawing/2014/main" id="{0A8357AA-AB17-4895-AD0A-9EC91C7E694C}"/>
              </a:ext>
            </a:extLst>
          </p:cNvPr>
          <p:cNvSpPr>
            <a:spLocks noGrp="1"/>
          </p:cNvSpPr>
          <p:nvPr/>
        </p:nvSpPr>
        <p:spPr>
          <a:xfrm>
            <a:off x="10248900" y="3333750"/>
            <a:ext cx="1104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Immutable +</a:t>
            </a:r>
          </a:p>
          <a:p>
            <a:pPr algn="l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versioned</a:t>
            </a:r>
          </a:p>
        </p:txBody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334000" y="4883991"/>
            <a:ext cx="285750" cy="285750"/>
          </a:xfrm>
          <a:prstGeom prst="rect">
            <a:avLst/>
          </a:prstGeom>
        </p:spPr>
      </p:pic>
      <p:sp>
        <p:nvSpPr>
          <p:cNvPr id="39" name="Schedule-title">
            <a:extLst>
              <a:ext uri="{FF2B5EF4-FFF2-40B4-BE49-F238E27FC236}">
                <a16:creationId xmlns:a16="http://schemas.microsoft.com/office/drawing/2014/main" id="{DD7D0C8F-7A0C-4636-99C5-65DA3C96C028}"/>
              </a:ext>
            </a:extLst>
          </p:cNvPr>
          <p:cNvSpPr>
            <a:spLocks noGrp="1"/>
          </p:cNvSpPr>
          <p:nvPr/>
        </p:nvSpPr>
        <p:spPr>
          <a:xfrm>
            <a:off x="5715000" y="4864941"/>
            <a:ext cx="87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124700" y="4918497"/>
            <a:ext cx="285750" cy="285750"/>
          </a:xfrm>
          <a:prstGeom prst="rect">
            <a:avLst/>
          </a:prstGeom>
        </p:spPr>
      </p:pic>
      <p:sp>
        <p:nvSpPr>
          <p:cNvPr id="41" name="Retries / state-title">
            <a:extLst>
              <a:ext uri="{FF2B5EF4-FFF2-40B4-BE49-F238E27FC236}">
                <a16:creationId xmlns:a16="http://schemas.microsoft.com/office/drawing/2014/main" id="{0BFB06EE-A5FD-4EED-BABD-041519F7DCC6}"/>
              </a:ext>
            </a:extLst>
          </p:cNvPr>
          <p:cNvSpPr>
            <a:spLocks noGrp="1"/>
          </p:cNvSpPr>
          <p:nvPr/>
        </p:nvSpPr>
        <p:spPr>
          <a:xfrm>
            <a:off x="7505700" y="4864941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Retries / state</a:t>
            </a: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163050" y="4912746"/>
            <a:ext cx="285750" cy="285750"/>
          </a:xfrm>
          <a:prstGeom prst="rect">
            <a:avLst/>
          </a:prstGeom>
        </p:spPr>
      </p:pic>
      <p:sp>
        <p:nvSpPr>
          <p:cNvPr id="43" name="Start Glue ETL-title">
            <a:extLst>
              <a:ext uri="{FF2B5EF4-FFF2-40B4-BE49-F238E27FC236}">
                <a16:creationId xmlns:a16="http://schemas.microsoft.com/office/drawing/2014/main" id="{8632379C-E9B4-4004-AB3C-B285BABE2D49}"/>
              </a:ext>
            </a:extLst>
          </p:cNvPr>
          <p:cNvSpPr>
            <a:spLocks noGrp="1"/>
          </p:cNvSpPr>
          <p:nvPr/>
        </p:nvSpPr>
        <p:spPr>
          <a:xfrm>
            <a:off x="9544050" y="4830435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Glue ETL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A32915-80DA-4988-AAEB-6B5DC7E73475}"/>
              </a:ext>
            </a:extLst>
          </p:cNvPr>
          <p:cNvSpPr>
            <a:spLocks noGrp="1"/>
          </p:cNvSpPr>
          <p:nvPr/>
        </p:nvSpPr>
        <p:spPr>
          <a:xfrm>
            <a:off x="2714625" y="403860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FF99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9900"/>
                </a:solidFill>
                <a:latin typeface="Arial"/>
                <a:ea typeface="Arial"/>
                <a:cs typeface="Arial"/>
              </a:rPr>
              <a:t>Outbound HTTPS request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CEBAA6-9D50-44BE-8C69-6B2A4EF0A0E9}"/>
              </a:ext>
            </a:extLst>
          </p:cNvPr>
          <p:cNvSpPr>
            <a:spLocks noGrp="1"/>
          </p:cNvSpPr>
          <p:nvPr/>
        </p:nvSpPr>
        <p:spPr>
          <a:xfrm>
            <a:off x="5257800" y="4057650"/>
            <a:ext cx="262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No inbound listener • no public IP</a:t>
            </a:r>
          </a:p>
        </p:txBody>
      </p:sp>
      <p:sp>
        <p:nvSpPr>
          <p:cNvPr id="46" name="source-footer">
            <a:extLst>
              <a:ext uri="{FF2B5EF4-FFF2-40B4-BE49-F238E27FC236}">
                <a16:creationId xmlns:a16="http://schemas.microsoft.com/office/drawing/2014/main" id="{C9F3CB87-C226-48DA-AC1A-D3AA5204F664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endParaRPr sz="900" b="0" dirty="0">
              <a:solidFill>
                <a:srgbClr val="5E647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825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6-title">
            <a:extLst>
              <a:ext uri="{FF2B5EF4-FFF2-40B4-BE49-F238E27FC236}">
                <a16:creationId xmlns:a16="http://schemas.microsoft.com/office/drawing/2014/main" id="{7E845F5B-9089-4507-BE8C-A3EB9C033E9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Tableau-to-Athena traffic stays private</a:t>
            </a:r>
          </a:p>
        </p:txBody>
      </p:sp>
      <p:sp>
        <p:nvSpPr>
          <p:cNvPr id="2" name="slide-6-number">
            <a:extLst>
              <a:ext uri="{FF2B5EF4-FFF2-40B4-BE49-F238E27FC236}">
                <a16:creationId xmlns:a16="http://schemas.microsoft.com/office/drawing/2014/main" id="{CF1CBB73-90CD-48AA-B1F2-267F5E166DF8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CDC6C4-3691-41FB-B3BA-510B2CF90E3D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Private DNS preserves the driver's normal regional Athena hostname while routing supported traffic to endpoint ENIs.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CB52B4-2AA1-4DDD-AECF-ABB18D17A2D7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6324600" cy="3943350"/>
          </a:xfrm>
          <a:prstGeom prst="rect">
            <a:avLst/>
          </a:prstGeom>
          <a:solidFill>
            <a:srgbClr val="FAFA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5B4E7-C18A-40D6-AD34-E956E07A5604}"/>
              </a:ext>
            </a:extLst>
          </p:cNvPr>
          <p:cNvSpPr>
            <a:spLocks noGrp="1"/>
          </p:cNvSpPr>
          <p:nvPr/>
        </p:nvSpPr>
        <p:spPr>
          <a:xfrm>
            <a:off x="7029450" y="1657350"/>
            <a:ext cx="4762500" cy="3943350"/>
          </a:xfrm>
          <a:prstGeom prst="rect">
            <a:avLst/>
          </a:prstGeom>
          <a:solidFill>
            <a:srgbClr val="FAFA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080BB6-0641-4399-806B-4574E278291D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HDB VPC • PRIVATE APPLICATION SUBNETS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BBE1F4-E44D-4EE1-BD0C-FF1AB3243424}"/>
              </a:ext>
            </a:extLst>
          </p:cNvPr>
          <p:cNvSpPr>
            <a:spLocks noGrp="1"/>
          </p:cNvSpPr>
          <p:nvPr/>
        </p:nvSpPr>
        <p:spPr>
          <a:xfrm>
            <a:off x="7219950" y="1809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AWS MANAGED ANALYTICS SERVICES</a:t>
            </a:r>
          </a:p>
        </p:txBody>
      </p:sp>
      <p:sp>
        <p:nvSpPr>
          <p:cNvPr id="8" name="tableau-private">
            <a:extLst>
              <a:ext uri="{FF2B5EF4-FFF2-40B4-BE49-F238E27FC236}">
                <a16:creationId xmlns:a16="http://schemas.microsoft.com/office/drawing/2014/main" id="{7F7E914F-CDA8-458B-8B33-731B781B0FEF}"/>
              </a:ext>
            </a:extLst>
          </p:cNvPr>
          <p:cNvSpPr>
            <a:spLocks noGrp="1"/>
          </p:cNvSpPr>
          <p:nvPr/>
        </p:nvSpPr>
        <p:spPr>
          <a:xfrm>
            <a:off x="723900" y="3221610"/>
            <a:ext cx="1676400" cy="1257300"/>
          </a:xfrm>
          <a:prstGeom prst="roundRect">
            <a:avLst>
              <a:gd name="adj" fmla="val 6061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9" name="athena-vpce">
            <a:extLst>
              <a:ext uri="{FF2B5EF4-FFF2-40B4-BE49-F238E27FC236}">
                <a16:creationId xmlns:a16="http://schemas.microsoft.com/office/drawing/2014/main" id="{154B0D1F-D76D-4ED2-84EF-058A012D7000}"/>
              </a:ext>
            </a:extLst>
          </p:cNvPr>
          <p:cNvSpPr>
            <a:spLocks noGrp="1"/>
          </p:cNvSpPr>
          <p:nvPr/>
        </p:nvSpPr>
        <p:spPr>
          <a:xfrm>
            <a:off x="3028950" y="257175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8EDF5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10" name="s3-vpce">
            <a:extLst>
              <a:ext uri="{FF2B5EF4-FFF2-40B4-BE49-F238E27FC236}">
                <a16:creationId xmlns:a16="http://schemas.microsoft.com/office/drawing/2014/main" id="{8CDAB8A2-CB9A-4D5C-BE39-1A0264BCE989}"/>
              </a:ext>
            </a:extLst>
          </p:cNvPr>
          <p:cNvSpPr>
            <a:spLocks noGrp="1"/>
          </p:cNvSpPr>
          <p:nvPr/>
        </p:nvSpPr>
        <p:spPr>
          <a:xfrm>
            <a:off x="3028950" y="4095750"/>
            <a:ext cx="1695450" cy="895350"/>
          </a:xfrm>
          <a:prstGeom prst="roundRect">
            <a:avLst>
              <a:gd name="adj" fmla="val 8511"/>
            </a:avLst>
          </a:prstGeom>
          <a:solidFill>
            <a:srgbClr val="E8EDF5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11" name="glue-vpce">
            <a:extLst>
              <a:ext uri="{FF2B5EF4-FFF2-40B4-BE49-F238E27FC236}">
                <a16:creationId xmlns:a16="http://schemas.microsoft.com/office/drawing/2014/main" id="{E6CE1CD9-BC9B-498E-9E39-FA853FC74742}"/>
              </a:ext>
            </a:extLst>
          </p:cNvPr>
          <p:cNvSpPr>
            <a:spLocks noGrp="1"/>
          </p:cNvSpPr>
          <p:nvPr/>
        </p:nvSpPr>
        <p:spPr>
          <a:xfrm>
            <a:off x="5143500" y="3333750"/>
            <a:ext cx="1276350" cy="952500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12" name="athena-service">
            <a:extLst>
              <a:ext uri="{FF2B5EF4-FFF2-40B4-BE49-F238E27FC236}">
                <a16:creationId xmlns:a16="http://schemas.microsoft.com/office/drawing/2014/main" id="{06FC9412-73E8-4C32-8C19-2B9F22215C28}"/>
              </a:ext>
            </a:extLst>
          </p:cNvPr>
          <p:cNvSpPr>
            <a:spLocks noGrp="1"/>
          </p:cNvSpPr>
          <p:nvPr/>
        </p:nvSpPr>
        <p:spPr>
          <a:xfrm>
            <a:off x="7334250" y="2493393"/>
            <a:ext cx="15049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3" name="lf-service">
            <a:extLst>
              <a:ext uri="{FF2B5EF4-FFF2-40B4-BE49-F238E27FC236}">
                <a16:creationId xmlns:a16="http://schemas.microsoft.com/office/drawing/2014/main" id="{C657035D-6FB4-4B47-B63D-DDE6BB843615}"/>
              </a:ext>
            </a:extLst>
          </p:cNvPr>
          <p:cNvSpPr>
            <a:spLocks noGrp="1"/>
          </p:cNvSpPr>
          <p:nvPr/>
        </p:nvSpPr>
        <p:spPr>
          <a:xfrm>
            <a:off x="9277350" y="2209800"/>
            <a:ext cx="2133600" cy="87630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4" name="catalog-service">
            <a:extLst>
              <a:ext uri="{FF2B5EF4-FFF2-40B4-BE49-F238E27FC236}">
                <a16:creationId xmlns:a16="http://schemas.microsoft.com/office/drawing/2014/main" id="{2AC4E987-5FC8-401B-9D42-C1B4B8ECD8D6}"/>
              </a:ext>
            </a:extLst>
          </p:cNvPr>
          <p:cNvSpPr>
            <a:spLocks noGrp="1"/>
          </p:cNvSpPr>
          <p:nvPr/>
        </p:nvSpPr>
        <p:spPr>
          <a:xfrm>
            <a:off x="9277350" y="3333750"/>
            <a:ext cx="2133600" cy="87630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5" name="s3-service">
            <a:extLst>
              <a:ext uri="{FF2B5EF4-FFF2-40B4-BE49-F238E27FC236}">
                <a16:creationId xmlns:a16="http://schemas.microsoft.com/office/drawing/2014/main" id="{6399132B-ABD2-4205-8B12-11FFBE3C7EE8}"/>
              </a:ext>
            </a:extLst>
          </p:cNvPr>
          <p:cNvSpPr>
            <a:spLocks noGrp="1"/>
          </p:cNvSpPr>
          <p:nvPr/>
        </p:nvSpPr>
        <p:spPr>
          <a:xfrm>
            <a:off x="9277350" y="4457700"/>
            <a:ext cx="2133600" cy="876300"/>
          </a:xfrm>
          <a:prstGeom prst="roundRect">
            <a:avLst>
              <a:gd name="adj" fmla="val 8696"/>
            </a:avLst>
          </a:prstGeom>
          <a:solidFill>
            <a:srgbClr val="F2F2F2"/>
          </a:solidFill>
          <a:ln w="14288">
            <a:solidFill>
              <a:srgbClr val="B8BCC4"/>
            </a:solidFill>
            <a:prstDash val="solid"/>
          </a:ln>
        </p:spPr>
      </p:sp>
      <p:cxnSp>
        <p:nvCxnSpPr>
          <p:cNvPr id="63" name="Straight Arrow Connector 62"/>
          <p:cNvCxnSpPr>
            <a:stCxn id="8" idx="3"/>
            <a:endCxn id="9" idx="1"/>
          </p:cNvCxnSpPr>
          <p:nvPr/>
        </p:nvCxnSpPr>
        <p:spPr>
          <a:xfrm flipV="1">
            <a:off x="2400300" y="3105150"/>
            <a:ext cx="628650" cy="745110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4" name="Straight Arrow Connector 63"/>
          <p:cNvCxnSpPr>
            <a:stCxn id="9" idx="3"/>
            <a:endCxn id="12" idx="1"/>
          </p:cNvCxnSpPr>
          <p:nvPr/>
        </p:nvCxnSpPr>
        <p:spPr>
          <a:xfrm flipV="1">
            <a:off x="4724400" y="3102993"/>
            <a:ext cx="2609850" cy="2157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5" name="Connector: Elbow 64"/>
          <p:cNvCxnSpPr>
            <a:stCxn id="12" idx="3"/>
            <a:endCxn id="13" idx="1"/>
          </p:cNvCxnSpPr>
          <p:nvPr/>
        </p:nvCxnSpPr>
        <p:spPr>
          <a:xfrm flipV="1">
            <a:off x="8839200" y="2647950"/>
            <a:ext cx="438150" cy="455043"/>
          </a:xfrm>
          <a:prstGeom prst="bentConnector3">
            <a:avLst>
              <a:gd name="adj1" fmla="val 50000"/>
            </a:avLst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6" name="Straight Arrow Connector 65"/>
          <p:cNvCxnSpPr>
            <a:cxnSpLocks/>
            <a:stCxn id="11" idx="3"/>
          </p:cNvCxnSpPr>
          <p:nvPr/>
        </p:nvCxnSpPr>
        <p:spPr>
          <a:xfrm>
            <a:off x="6419850" y="3810000"/>
            <a:ext cx="2857500" cy="244415"/>
          </a:xfrm>
          <a:prstGeom prst="bentConnector3">
            <a:avLst>
              <a:gd name="adj1" fmla="val 50000"/>
            </a:avLst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7" name="Connector: Elbow 66"/>
          <p:cNvCxnSpPr>
            <a:stCxn id="12" idx="3"/>
            <a:endCxn id="14" idx="1"/>
          </p:cNvCxnSpPr>
          <p:nvPr/>
        </p:nvCxnSpPr>
        <p:spPr>
          <a:xfrm>
            <a:off x="8839200" y="3102993"/>
            <a:ext cx="438150" cy="668907"/>
          </a:xfrm>
          <a:prstGeom prst="bentConnector3">
            <a:avLst>
              <a:gd name="adj1" fmla="val 50000"/>
            </a:avLst>
          </a:prstGeom>
          <a:ln w="23813">
            <a:solidFill>
              <a:srgbClr val="B8BCC4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9" name="Straight Arrow Connector 68"/>
          <p:cNvCxnSpPr>
            <a:cxnSpLocks/>
            <a:stCxn id="10" idx="3"/>
          </p:cNvCxnSpPr>
          <p:nvPr/>
        </p:nvCxnSpPr>
        <p:spPr>
          <a:xfrm>
            <a:off x="4724400" y="4543425"/>
            <a:ext cx="4552950" cy="592167"/>
          </a:xfrm>
          <a:prstGeom prst="bentConnector3">
            <a:avLst>
              <a:gd name="adj1" fmla="val 46968"/>
            </a:avLst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0" name="Connector: Elbow 69"/>
          <p:cNvCxnSpPr>
            <a:stCxn id="12" idx="2"/>
            <a:endCxn id="15" idx="1"/>
          </p:cNvCxnSpPr>
          <p:nvPr/>
        </p:nvCxnSpPr>
        <p:spPr>
          <a:xfrm rot="16200000" flipH="1">
            <a:off x="8090409" y="3708908"/>
            <a:ext cx="1183257" cy="1190625"/>
          </a:xfrm>
          <a:prstGeom prst="bentConnector2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4" name="Tableau Server-title">
            <a:extLst>
              <a:ext uri="{FF2B5EF4-FFF2-40B4-BE49-F238E27FC236}">
                <a16:creationId xmlns:a16="http://schemas.microsoft.com/office/drawing/2014/main" id="{CE8B0590-4878-42F9-82C0-B2C6A615D04A}"/>
              </a:ext>
            </a:extLst>
          </p:cNvPr>
          <p:cNvSpPr>
            <a:spLocks noGrp="1"/>
          </p:cNvSpPr>
          <p:nvPr/>
        </p:nvSpPr>
        <p:spPr>
          <a:xfrm>
            <a:off x="857250" y="3330159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Tableau Server</a:t>
            </a:r>
          </a:p>
        </p:txBody>
      </p:sp>
      <p:sp>
        <p:nvSpPr>
          <p:cNvPr id="25" name="Tableau Server-subtitle">
            <a:extLst>
              <a:ext uri="{FF2B5EF4-FFF2-40B4-BE49-F238E27FC236}">
                <a16:creationId xmlns:a16="http://schemas.microsoft.com/office/drawing/2014/main" id="{AF167E48-3226-4F1A-8FB8-39A3D4564B84}"/>
              </a:ext>
            </a:extLst>
          </p:cNvPr>
          <p:cNvSpPr>
            <a:spLocks noGrp="1"/>
          </p:cNvSpPr>
          <p:nvPr/>
        </p:nvSpPr>
        <p:spPr>
          <a:xfrm>
            <a:off x="857250" y="3766152"/>
            <a:ext cx="1409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Athena driver</a:t>
            </a:r>
          </a:p>
          <a:p>
            <a:pPr algn="l"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private subnets</a:t>
            </a:r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43250" y="2705100"/>
            <a:ext cx="361950" cy="361950"/>
          </a:xfrm>
          <a:prstGeom prst="rect">
            <a:avLst/>
          </a:prstGeom>
        </p:spPr>
      </p:pic>
      <p:sp>
        <p:nvSpPr>
          <p:cNvPr id="27" name="Athena interface endpoint-title">
            <a:extLst>
              <a:ext uri="{FF2B5EF4-FFF2-40B4-BE49-F238E27FC236}">
                <a16:creationId xmlns:a16="http://schemas.microsoft.com/office/drawing/2014/main" id="{2D1A725D-C947-4AF9-A240-8F10DB95E99E}"/>
              </a:ext>
            </a:extLst>
          </p:cNvPr>
          <p:cNvSpPr>
            <a:spLocks noGrp="1"/>
          </p:cNvSpPr>
          <p:nvPr/>
        </p:nvSpPr>
        <p:spPr>
          <a:xfrm>
            <a:off x="3600450" y="2686050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115" lnSpcReduction="20000"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Athena interface endpoint</a:t>
            </a:r>
          </a:p>
        </p:txBody>
      </p:sp>
      <p:sp>
        <p:nvSpPr>
          <p:cNvPr id="28" name="Athena interface endpoint-subtitle">
            <a:extLst>
              <a:ext uri="{FF2B5EF4-FFF2-40B4-BE49-F238E27FC236}">
                <a16:creationId xmlns:a16="http://schemas.microsoft.com/office/drawing/2014/main" id="{133F14A4-9B0E-4886-B64A-04928B77127B}"/>
              </a:ext>
            </a:extLst>
          </p:cNvPr>
          <p:cNvSpPr>
            <a:spLocks noGrp="1"/>
          </p:cNvSpPr>
          <p:nvPr/>
        </p:nvSpPr>
        <p:spPr>
          <a:xfrm>
            <a:off x="3162300" y="31432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Private DNS + endpoint policy</a:t>
            </a:r>
          </a:p>
        </p:txBody>
      </p:sp>
      <p:sp>
        <p:nvSpPr>
          <p:cNvPr id="29" name="S3 Gateway endpoint-title">
            <a:extLst>
              <a:ext uri="{FF2B5EF4-FFF2-40B4-BE49-F238E27FC236}">
                <a16:creationId xmlns:a16="http://schemas.microsoft.com/office/drawing/2014/main" id="{2C36FCB5-8D8E-43EB-A990-FDC73387EB0D}"/>
              </a:ext>
            </a:extLst>
          </p:cNvPr>
          <p:cNvSpPr>
            <a:spLocks noGrp="1"/>
          </p:cNvSpPr>
          <p:nvPr/>
        </p:nvSpPr>
        <p:spPr>
          <a:xfrm>
            <a:off x="3162300" y="421005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897" lnSpcReduction="10000"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S3 Gateway endpoint</a:t>
            </a:r>
          </a:p>
        </p:txBody>
      </p:sp>
      <p:sp>
        <p:nvSpPr>
          <p:cNvPr id="30" name="S3 Gateway endpoint-subtitle">
            <a:extLst>
              <a:ext uri="{FF2B5EF4-FFF2-40B4-BE49-F238E27FC236}">
                <a16:creationId xmlns:a16="http://schemas.microsoft.com/office/drawing/2014/main" id="{11AF3063-42A9-4226-90AE-6D9317155221}"/>
              </a:ext>
            </a:extLst>
          </p:cNvPr>
          <p:cNvSpPr>
            <a:spLocks noGrp="1"/>
          </p:cNvSpPr>
          <p:nvPr/>
        </p:nvSpPr>
        <p:spPr>
          <a:xfrm>
            <a:off x="3162300" y="45339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Curated data + query results</a:t>
            </a:r>
          </a:p>
        </p:txBody>
      </p:sp>
      <p:sp>
        <p:nvSpPr>
          <p:cNvPr id="31" name="Glue VPCE-title">
            <a:extLst>
              <a:ext uri="{FF2B5EF4-FFF2-40B4-BE49-F238E27FC236}">
                <a16:creationId xmlns:a16="http://schemas.microsoft.com/office/drawing/2014/main" id="{295FE49E-2EC9-44BA-A115-C423D2C9BC0F}"/>
              </a:ext>
            </a:extLst>
          </p:cNvPr>
          <p:cNvSpPr>
            <a:spLocks noGrp="1"/>
          </p:cNvSpPr>
          <p:nvPr/>
        </p:nvSpPr>
        <p:spPr>
          <a:xfrm>
            <a:off x="5276850" y="3448050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Glue VPCE</a:t>
            </a:r>
          </a:p>
        </p:txBody>
      </p:sp>
      <p:sp>
        <p:nvSpPr>
          <p:cNvPr id="32" name="Glue VPCE-subtitle">
            <a:extLst>
              <a:ext uri="{FF2B5EF4-FFF2-40B4-BE49-F238E27FC236}">
                <a16:creationId xmlns:a16="http://schemas.microsoft.com/office/drawing/2014/main" id="{B6BF53E3-C0C5-4C4F-82F5-A7553C9F87D9}"/>
              </a:ext>
            </a:extLst>
          </p:cNvPr>
          <p:cNvSpPr>
            <a:spLocks noGrp="1"/>
          </p:cNvSpPr>
          <p:nvPr/>
        </p:nvSpPr>
        <p:spPr>
          <a:xfrm>
            <a:off x="5276850" y="3848100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Optional metadata path</a:t>
            </a:r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48550" y="2609490"/>
            <a:ext cx="400050" cy="400050"/>
          </a:xfrm>
          <a:prstGeom prst="rect">
            <a:avLst/>
          </a:prstGeom>
        </p:spPr>
      </p:pic>
      <p:sp>
        <p:nvSpPr>
          <p:cNvPr id="34" name="Athena-title">
            <a:extLst>
              <a:ext uri="{FF2B5EF4-FFF2-40B4-BE49-F238E27FC236}">
                <a16:creationId xmlns:a16="http://schemas.microsoft.com/office/drawing/2014/main" id="{050A8AC3-F697-4F5F-AB90-BEFFF53BEEBC}"/>
              </a:ext>
            </a:extLst>
          </p:cNvPr>
          <p:cNvSpPr>
            <a:spLocks noGrp="1"/>
          </p:cNvSpPr>
          <p:nvPr/>
        </p:nvSpPr>
        <p:spPr>
          <a:xfrm>
            <a:off x="7943850" y="2624946"/>
            <a:ext cx="781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Athena</a:t>
            </a:r>
          </a:p>
        </p:txBody>
      </p:sp>
      <p:sp>
        <p:nvSpPr>
          <p:cNvPr id="35" name="Athena-subtitle">
            <a:extLst>
              <a:ext uri="{FF2B5EF4-FFF2-40B4-BE49-F238E27FC236}">
                <a16:creationId xmlns:a16="http://schemas.microsoft.com/office/drawing/2014/main" id="{054A98A0-8F1B-4C7A-AF48-0E91579F928C}"/>
              </a:ext>
            </a:extLst>
          </p:cNvPr>
          <p:cNvSpPr>
            <a:spLocks noGrp="1"/>
          </p:cNvSpPr>
          <p:nvPr/>
        </p:nvSpPr>
        <p:spPr>
          <a:xfrm>
            <a:off x="7467600" y="3106947"/>
            <a:ext cx="123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 lnSpcReduction="10000"/>
          </a:bodyPr>
          <a:lstStyle/>
          <a:p>
            <a:pPr algn="l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Tableau workgroup</a:t>
            </a:r>
          </a:p>
          <a:p>
            <a:pPr algn="l">
              <a:defRPr sz="12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E6470"/>
                </a:solidFill>
                <a:latin typeface="Arial"/>
                <a:ea typeface="Arial"/>
                <a:cs typeface="Arial"/>
              </a:rPr>
              <a:t>encrypted results</a:t>
            </a:r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91650" y="2343150"/>
            <a:ext cx="361950" cy="361950"/>
          </a:xfrm>
          <a:prstGeom prst="rect">
            <a:avLst/>
          </a:prstGeom>
        </p:spPr>
      </p:pic>
      <p:sp>
        <p:nvSpPr>
          <p:cNvPr id="37" name="Lake Formation-title">
            <a:extLst>
              <a:ext uri="{FF2B5EF4-FFF2-40B4-BE49-F238E27FC236}">
                <a16:creationId xmlns:a16="http://schemas.microsoft.com/office/drawing/2014/main" id="{5D2359B1-8827-49E8-B940-F76C4186929F}"/>
              </a:ext>
            </a:extLst>
          </p:cNvPr>
          <p:cNvSpPr>
            <a:spLocks noGrp="1"/>
          </p:cNvSpPr>
          <p:nvPr/>
        </p:nvSpPr>
        <p:spPr>
          <a:xfrm>
            <a:off x="9848850" y="232410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Lake Formation</a:t>
            </a:r>
          </a:p>
        </p:txBody>
      </p:sp>
      <p:sp>
        <p:nvSpPr>
          <p:cNvPr id="38" name="Lake Formation-subtitle">
            <a:extLst>
              <a:ext uri="{FF2B5EF4-FFF2-40B4-BE49-F238E27FC236}">
                <a16:creationId xmlns:a16="http://schemas.microsoft.com/office/drawing/2014/main" id="{06705FF7-BFC4-4779-A171-42285EB517B1}"/>
              </a:ext>
            </a:extLst>
          </p:cNvPr>
          <p:cNvSpPr>
            <a:spLocks noGrp="1"/>
          </p:cNvSpPr>
          <p:nvPr/>
        </p:nvSpPr>
        <p:spPr>
          <a:xfrm>
            <a:off x="9410700" y="26860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Authorise each query</a:t>
            </a:r>
          </a:p>
        </p:txBody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391650" y="3467100"/>
            <a:ext cx="361950" cy="361950"/>
          </a:xfrm>
          <a:prstGeom prst="rect">
            <a:avLst/>
          </a:prstGeom>
        </p:spPr>
      </p:pic>
      <p:sp>
        <p:nvSpPr>
          <p:cNvPr id="40" name="Glue Data Catalog-title">
            <a:extLst>
              <a:ext uri="{FF2B5EF4-FFF2-40B4-BE49-F238E27FC236}">
                <a16:creationId xmlns:a16="http://schemas.microsoft.com/office/drawing/2014/main" id="{EFB6B0C9-7874-480F-879F-EA3BE2DE7D93}"/>
              </a:ext>
            </a:extLst>
          </p:cNvPr>
          <p:cNvSpPr>
            <a:spLocks noGrp="1"/>
          </p:cNvSpPr>
          <p:nvPr/>
        </p:nvSpPr>
        <p:spPr>
          <a:xfrm>
            <a:off x="9848850" y="344805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64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Glue Data Catalog</a:t>
            </a:r>
          </a:p>
        </p:txBody>
      </p:sp>
      <p:sp>
        <p:nvSpPr>
          <p:cNvPr id="41" name="Glue Data Catalog-subtitle">
            <a:extLst>
              <a:ext uri="{FF2B5EF4-FFF2-40B4-BE49-F238E27FC236}">
                <a16:creationId xmlns:a16="http://schemas.microsoft.com/office/drawing/2014/main" id="{2110DB4B-B37A-42F7-8818-98C33FFBDF67}"/>
              </a:ext>
            </a:extLst>
          </p:cNvPr>
          <p:cNvSpPr>
            <a:spLocks noGrp="1"/>
          </p:cNvSpPr>
          <p:nvPr/>
        </p:nvSpPr>
        <p:spPr>
          <a:xfrm>
            <a:off x="9410700" y="38100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Schema + partitions</a:t>
            </a: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391650" y="4591050"/>
            <a:ext cx="361950" cy="361950"/>
          </a:xfrm>
          <a:prstGeom prst="rect">
            <a:avLst/>
          </a:prstGeom>
        </p:spPr>
      </p:pic>
      <p:sp>
        <p:nvSpPr>
          <p:cNvPr id="43" name="S3 curated + results-title">
            <a:extLst>
              <a:ext uri="{FF2B5EF4-FFF2-40B4-BE49-F238E27FC236}">
                <a16:creationId xmlns:a16="http://schemas.microsoft.com/office/drawing/2014/main" id="{72409AC6-184A-4C64-9228-F1AD1F7B2DBB}"/>
              </a:ext>
            </a:extLst>
          </p:cNvPr>
          <p:cNvSpPr>
            <a:spLocks noGrp="1"/>
          </p:cNvSpPr>
          <p:nvPr/>
        </p:nvSpPr>
        <p:spPr>
          <a:xfrm>
            <a:off x="9848850" y="4572000"/>
            <a:ext cx="144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92" lnSpcReduction="10000"/>
          </a:bodyPr>
          <a:lstStyle/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S3 curated + results</a:t>
            </a:r>
          </a:p>
        </p:txBody>
      </p:sp>
      <p:sp>
        <p:nvSpPr>
          <p:cNvPr id="44" name="S3 curated + results-subtitle">
            <a:extLst>
              <a:ext uri="{FF2B5EF4-FFF2-40B4-BE49-F238E27FC236}">
                <a16:creationId xmlns:a16="http://schemas.microsoft.com/office/drawing/2014/main" id="{C4F99BB4-DFB4-48E9-ADC6-64989880C977}"/>
              </a:ext>
            </a:extLst>
          </p:cNvPr>
          <p:cNvSpPr>
            <a:spLocks noGrp="1"/>
          </p:cNvSpPr>
          <p:nvPr/>
        </p:nvSpPr>
        <p:spPr>
          <a:xfrm>
            <a:off x="9410700" y="49339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KMS-encrypted Parquet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BDBA892-3443-4973-A103-D2E964D2FCB8}"/>
              </a:ext>
            </a:extLst>
          </p:cNvPr>
          <p:cNvSpPr>
            <a:spLocks noGrp="1"/>
          </p:cNvSpPr>
          <p:nvPr/>
        </p:nvSpPr>
        <p:spPr>
          <a:xfrm>
            <a:off x="1908234" y="2848698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JDBC/ODBC API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FAAF61-51D0-4A6D-B12F-3CE878BE5BB3}"/>
              </a:ext>
            </a:extLst>
          </p:cNvPr>
          <p:cNvSpPr>
            <a:spLocks noGrp="1"/>
          </p:cNvSpPr>
          <p:nvPr/>
        </p:nvSpPr>
        <p:spPr>
          <a:xfrm>
            <a:off x="6096000" y="26860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SQL API</a:t>
            </a:r>
          </a:p>
        </p:txBody>
      </p:sp>
      <p:sp>
        <p:nvSpPr>
          <p:cNvPr id="47" name="source-footer">
            <a:extLst>
              <a:ext uri="{FF2B5EF4-FFF2-40B4-BE49-F238E27FC236}">
                <a16:creationId xmlns:a16="http://schemas.microsoft.com/office/drawing/2014/main" id="{B9AC0C97-4D1A-4E2E-A394-4EBDD0FE38F7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AWS reference: https://docs.aws.amazon.com/athena/latest/ug/interface-vpc-endpoint.html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313920-2C11-2998-3445-73D13632DB0A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400300" y="3850260"/>
            <a:ext cx="628650" cy="693165"/>
          </a:xfrm>
          <a:prstGeom prst="straightConnector1">
            <a:avLst/>
          </a:prstGeom>
          <a:ln w="23813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91983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7-title">
            <a:extLst>
              <a:ext uri="{FF2B5EF4-FFF2-40B4-BE49-F238E27FC236}">
                <a16:creationId xmlns:a16="http://schemas.microsoft.com/office/drawing/2014/main" id="{AF91B45B-5EAD-4B0C-A803-976DB7FB776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Security, scale and operations are designed in</a:t>
            </a:r>
          </a:p>
        </p:txBody>
      </p:sp>
      <p:sp>
        <p:nvSpPr>
          <p:cNvPr id="2" name="slide-7-number">
            <a:extLst>
              <a:ext uri="{FF2B5EF4-FFF2-40B4-BE49-F238E27FC236}">
                <a16:creationId xmlns:a16="http://schemas.microsoft.com/office/drawing/2014/main" id="{9BE86C3B-F4AF-4741-A2E0-8ECA2E153D0E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482AE-D4DA-4638-A13F-2A043806DC75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571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controls protect the ingestion path, curated data, and analyst access.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1AF40-4FE5-4965-BD01-9AFAE828D847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56388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Terraform should provision buckets, keys, endpoints, route tables, security groups, task/job roles, Lake Formation grants, workgroups, logs, alarms, and lifecycle policies across development, test, and production accounts.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538F61-4EF5-4A86-91E6-3440ADF183B1}"/>
              </a:ext>
            </a:extLst>
          </p:cNvPr>
          <p:cNvSpPr>
            <a:spLocks noGrp="1"/>
          </p:cNvSpPr>
          <p:nvPr/>
        </p:nvSpPr>
        <p:spPr>
          <a:xfrm>
            <a:off x="6762750" y="1657350"/>
            <a:ext cx="4762500" cy="781050"/>
          </a:xfrm>
          <a:prstGeom prst="roundRect">
            <a:avLst>
              <a:gd name="adj" fmla="val 14634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3F0640-C078-4030-9DC7-38A7E487F891}"/>
              </a:ext>
            </a:extLst>
          </p:cNvPr>
          <p:cNvSpPr>
            <a:spLocks noGrp="1"/>
          </p:cNvSpPr>
          <p:nvPr/>
        </p:nvSpPr>
        <p:spPr>
          <a:xfrm>
            <a:off x="6953250" y="1876425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950" b="1">
                <a:solidFill>
                  <a:srgbClr val="1B7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B7F5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60F654-A8FB-4948-A6CA-D8365E77E459}"/>
              </a:ext>
            </a:extLst>
          </p:cNvPr>
          <p:cNvSpPr>
            <a:spLocks noGrp="1"/>
          </p:cNvSpPr>
          <p:nvPr/>
        </p:nvSpPr>
        <p:spPr>
          <a:xfrm>
            <a:off x="7429500" y="1771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 segmentation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F627D-9B47-4264-B9D5-04BAC91628C2}"/>
              </a:ext>
            </a:extLst>
          </p:cNvPr>
          <p:cNvSpPr>
            <a:spLocks noGrp="1"/>
          </p:cNvSpPr>
          <p:nvPr/>
        </p:nvSpPr>
        <p:spPr>
          <a:xfrm>
            <a:off x="7429500" y="204787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132" lnSpcReduction="20000"/>
          </a:bodyPr>
          <a:lstStyle/>
          <a:p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Private subnets • controlled egress • endpoint policies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C9A61E-ACAC-4C15-A013-B527F6ED643E}"/>
              </a:ext>
            </a:extLst>
          </p:cNvPr>
          <p:cNvSpPr>
            <a:spLocks noGrp="1"/>
          </p:cNvSpPr>
          <p:nvPr/>
        </p:nvSpPr>
        <p:spPr>
          <a:xfrm>
            <a:off x="6762750" y="2524125"/>
            <a:ext cx="4762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8C6A39-6538-4D8F-8034-1D70EB6BCF78}"/>
              </a:ext>
            </a:extLst>
          </p:cNvPr>
          <p:cNvSpPr>
            <a:spLocks noGrp="1"/>
          </p:cNvSpPr>
          <p:nvPr/>
        </p:nvSpPr>
        <p:spPr>
          <a:xfrm>
            <a:off x="6953250" y="2743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950" b="1">
                <a:solidFill>
                  <a:srgbClr val="1B7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B7F5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CF11E0-0E0E-46B9-81DD-B2C2EA5F3F2E}"/>
              </a:ext>
            </a:extLst>
          </p:cNvPr>
          <p:cNvSpPr>
            <a:spLocks noGrp="1"/>
          </p:cNvSpPr>
          <p:nvPr/>
        </p:nvSpPr>
        <p:spPr>
          <a:xfrm>
            <a:off x="7429500" y="26384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protection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6BDB6-1E8D-4829-BE9A-F9E412FA199D}"/>
              </a:ext>
            </a:extLst>
          </p:cNvPr>
          <p:cNvSpPr>
            <a:spLocks noGrp="1"/>
          </p:cNvSpPr>
          <p:nvPr/>
        </p:nvSpPr>
        <p:spPr>
          <a:xfrm>
            <a:off x="7429500" y="29146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922" lnSpcReduction="20000"/>
          </a:bodyPr>
          <a:lstStyle/>
          <a:p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KMS • TLS • Block Public Access • encrypted results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6124FF-DC8F-4492-B676-4F99381A4438}"/>
              </a:ext>
            </a:extLst>
          </p:cNvPr>
          <p:cNvSpPr>
            <a:spLocks noGrp="1"/>
          </p:cNvSpPr>
          <p:nvPr/>
        </p:nvSpPr>
        <p:spPr>
          <a:xfrm>
            <a:off x="6762750" y="3390900"/>
            <a:ext cx="4762500" cy="781050"/>
          </a:xfrm>
          <a:prstGeom prst="roundRect">
            <a:avLst>
              <a:gd name="adj" fmla="val 14634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0EAAEE-DC7C-4281-B2E2-7624613ECC86}"/>
              </a:ext>
            </a:extLst>
          </p:cNvPr>
          <p:cNvSpPr>
            <a:spLocks noGrp="1"/>
          </p:cNvSpPr>
          <p:nvPr/>
        </p:nvSpPr>
        <p:spPr>
          <a:xfrm>
            <a:off x="6953250" y="3609975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950" b="1">
                <a:solidFill>
                  <a:srgbClr val="1B7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B7F5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305766-ACF1-42FB-AC00-77296D871128}"/>
              </a:ext>
            </a:extLst>
          </p:cNvPr>
          <p:cNvSpPr>
            <a:spLocks noGrp="1"/>
          </p:cNvSpPr>
          <p:nvPr/>
        </p:nvSpPr>
        <p:spPr>
          <a:xfrm>
            <a:off x="7429500" y="35052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Governed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45C11-9CC7-47A5-B456-C132579590F6}"/>
              </a:ext>
            </a:extLst>
          </p:cNvPr>
          <p:cNvSpPr>
            <a:spLocks noGrp="1"/>
          </p:cNvSpPr>
          <p:nvPr/>
        </p:nvSpPr>
        <p:spPr>
          <a:xfrm>
            <a:off x="7429500" y="37814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367" lnSpcReduction="10000"/>
          </a:bodyPr>
          <a:lstStyle/>
          <a:p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Separate roles • Lake Formation grants • isolated workgroup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643650-06A1-4229-84AA-2AAC22D87B02}"/>
              </a:ext>
            </a:extLst>
          </p:cNvPr>
          <p:cNvSpPr>
            <a:spLocks noGrp="1"/>
          </p:cNvSpPr>
          <p:nvPr/>
        </p:nvSpPr>
        <p:spPr>
          <a:xfrm>
            <a:off x="6762750" y="4257675"/>
            <a:ext cx="4762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1EFCF6-EBF0-4A37-8CEC-D24CFA5F87A3}"/>
              </a:ext>
            </a:extLst>
          </p:cNvPr>
          <p:cNvSpPr>
            <a:spLocks noGrp="1"/>
          </p:cNvSpPr>
          <p:nvPr/>
        </p:nvSpPr>
        <p:spPr>
          <a:xfrm>
            <a:off x="6953250" y="44767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950" b="1">
                <a:solidFill>
                  <a:srgbClr val="1B7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B7F5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ABE0C6-0434-461D-BD02-113FC63BA7B5}"/>
              </a:ext>
            </a:extLst>
          </p:cNvPr>
          <p:cNvSpPr>
            <a:spLocks noGrp="1"/>
          </p:cNvSpPr>
          <p:nvPr/>
        </p:nvSpPr>
        <p:spPr>
          <a:xfrm>
            <a:off x="7429500" y="437197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Scalable performance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ECBB8C-8F49-44C3-9503-1422793EBEA8}"/>
              </a:ext>
            </a:extLst>
          </p:cNvPr>
          <p:cNvSpPr>
            <a:spLocks noGrp="1"/>
          </p:cNvSpPr>
          <p:nvPr/>
        </p:nvSpPr>
        <p:spPr>
          <a:xfrm>
            <a:off x="7429500" y="46482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972"/>
          </a:bodyPr>
          <a:lstStyle/>
          <a:p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Multipart • Glue/Spark • Parquet • partition pruning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B549B4B-62C0-4DB6-B61D-38A3725A1EC8}"/>
              </a:ext>
            </a:extLst>
          </p:cNvPr>
          <p:cNvSpPr>
            <a:spLocks noGrp="1"/>
          </p:cNvSpPr>
          <p:nvPr/>
        </p:nvSpPr>
        <p:spPr>
          <a:xfrm>
            <a:off x="6762750" y="5124450"/>
            <a:ext cx="4762500" cy="781050"/>
          </a:xfrm>
          <a:prstGeom prst="roundRect">
            <a:avLst>
              <a:gd name="adj" fmla="val 14634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677D76-C2BF-40FD-9BA9-FF3CADE74A50}"/>
              </a:ext>
            </a:extLst>
          </p:cNvPr>
          <p:cNvSpPr>
            <a:spLocks noGrp="1"/>
          </p:cNvSpPr>
          <p:nvPr/>
        </p:nvSpPr>
        <p:spPr>
          <a:xfrm>
            <a:off x="6953250" y="5343525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950" b="1">
                <a:solidFill>
                  <a:srgbClr val="1B7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B7F5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038FCB-D537-4D22-BA40-E4B53D914634}"/>
              </a:ext>
            </a:extLst>
          </p:cNvPr>
          <p:cNvSpPr>
            <a:spLocks noGrp="1"/>
          </p:cNvSpPr>
          <p:nvPr/>
        </p:nvSpPr>
        <p:spPr>
          <a:xfrm>
            <a:off x="7429500" y="5238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Reliable operations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389D81-CD21-418B-817B-03B7B36EA9CC}"/>
              </a:ext>
            </a:extLst>
          </p:cNvPr>
          <p:cNvSpPr>
            <a:spLocks noGrp="1"/>
          </p:cNvSpPr>
          <p:nvPr/>
        </p:nvSpPr>
        <p:spPr>
          <a:xfrm>
            <a:off x="7429500" y="551497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492"/>
          </a:bodyPr>
          <a:lstStyle/>
          <a:p>
            <a:pPr algn="l"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Retries • immutable raw • quarantine • audit logs</a:t>
            </a: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4552950"/>
            <a:ext cx="457200" cy="4572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3396644-B970-42D5-A486-B141F93E57DE}"/>
              </a:ext>
            </a:extLst>
          </p:cNvPr>
          <p:cNvSpPr>
            <a:spLocks noGrp="1"/>
          </p:cNvSpPr>
          <p:nvPr/>
        </p:nvSpPr>
        <p:spPr>
          <a:xfrm>
            <a:off x="419100" y="50863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IAM</a:t>
            </a: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09750" y="4552950"/>
            <a:ext cx="457200" cy="4572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59035E7-9C2E-4DA1-8DE1-14D81FA4CBDB}"/>
              </a:ext>
            </a:extLst>
          </p:cNvPr>
          <p:cNvSpPr>
            <a:spLocks noGrp="1"/>
          </p:cNvSpPr>
          <p:nvPr/>
        </p:nvSpPr>
        <p:spPr>
          <a:xfrm>
            <a:off x="1733550" y="50863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KMS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24200" y="4552950"/>
            <a:ext cx="457200" cy="4572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11D2FF5-F9E1-4344-97E7-F155340431E2}"/>
              </a:ext>
            </a:extLst>
          </p:cNvPr>
          <p:cNvSpPr>
            <a:spLocks noGrp="1"/>
          </p:cNvSpPr>
          <p:nvPr/>
        </p:nvSpPr>
        <p:spPr>
          <a:xfrm>
            <a:off x="3048000" y="50863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CloudWatch</a:t>
            </a: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438650" y="4552950"/>
            <a:ext cx="457200" cy="457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C4AEE71-1C3E-451D-98A6-8B0B6861D1EC}"/>
              </a:ext>
            </a:extLst>
          </p:cNvPr>
          <p:cNvSpPr>
            <a:spLocks noGrp="1"/>
          </p:cNvSpPr>
          <p:nvPr/>
        </p:nvSpPr>
        <p:spPr>
          <a:xfrm>
            <a:off x="4362450" y="50863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CloudTrail</a:t>
            </a:r>
          </a:p>
        </p:txBody>
      </p:sp>
      <p:sp>
        <p:nvSpPr>
          <p:cNvPr id="33" name="source-footer">
            <a:extLst>
              <a:ext uri="{FF2B5EF4-FFF2-40B4-BE49-F238E27FC236}">
                <a16:creationId xmlns:a16="http://schemas.microsoft.com/office/drawing/2014/main" id="{27E40EA3-E734-4CAE-8B9A-C37D47CFB1D9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047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9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endParaRPr sz="900" b="0" dirty="0">
              <a:solidFill>
                <a:srgbClr val="5E647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4849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Microsoft Office PowerPoint</Application>
  <DocSecurity>0</DocSecurity>
  <PresentationFormat>Widescreen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Ashwin Meenakshi Sundaram</cp:lastModifiedBy>
  <cp:revision>1</cp:revision>
  <dcterms:created xsi:type="dcterms:W3CDTF">2026-07-13T23:45:26Z</dcterms:created>
  <dcterms:modified xsi:type="dcterms:W3CDTF">2026-07-18T12:44:47Z</dcterms:modified>
</cp:coreProperties>
</file>